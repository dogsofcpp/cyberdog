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image" Target="../media/image-1-9.png"/><Relationship Id="rId10" Type="http://schemas.openxmlformats.org/officeDocument/2006/relationships/image" Target="../media/image-1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image" Target="../media/image-2-11.png"/><Relationship Id="rId12" Type="http://schemas.openxmlformats.org/officeDocument/2006/relationships/image" Target="../media/image-2-12.svg"/><Relationship Id="rId13" Type="http://schemas.openxmlformats.org/officeDocument/2006/relationships/image" Target="../media/image-2-13.png"/><Relationship Id="rId14" Type="http://schemas.openxmlformats.org/officeDocument/2006/relationships/image" Target="../media/image-2-14.svg"/><Relationship Id="rId15" Type="http://schemas.openxmlformats.org/officeDocument/2006/relationships/image" Target="../media/image-2-15.png"/><Relationship Id="rId16" Type="http://schemas.openxmlformats.org/officeDocument/2006/relationships/image" Target="../media/image-2-16.svg"/><Relationship Id="rId17" Type="http://schemas.openxmlformats.org/officeDocument/2006/relationships/image" Target="../media/image-2-17.png"/><Relationship Id="rId18" Type="http://schemas.openxmlformats.org/officeDocument/2006/relationships/image" Target="../media/image-2-18.svg"/><Relationship Id="rId19" Type="http://schemas.openxmlformats.org/officeDocument/2006/relationships/image" Target="../media/image-2-19.png"/><Relationship Id="rId20" Type="http://schemas.openxmlformats.org/officeDocument/2006/relationships/image" Target="../media/image-2-20.svg"/><Relationship Id="rId21" Type="http://schemas.openxmlformats.org/officeDocument/2006/relationships/image" Target="../media/image-2-21.png"/><Relationship Id="rId22" Type="http://schemas.openxmlformats.org/officeDocument/2006/relationships/image" Target="../media/image-2-22.svg"/><Relationship Id="rId23" Type="http://schemas.openxmlformats.org/officeDocument/2006/relationships/image" Target="../media/image-2-23.png"/><Relationship Id="rId24" Type="http://schemas.openxmlformats.org/officeDocument/2006/relationships/image" Target="../media/image-2-24.svg"/><Relationship Id="rId25" Type="http://schemas.openxmlformats.org/officeDocument/2006/relationships/image" Target="../media/image-2-25.png"/><Relationship Id="rId26" Type="http://schemas.openxmlformats.org/officeDocument/2006/relationships/image" Target="../media/image-2-26.svg"/><Relationship Id="rId27" Type="http://schemas.openxmlformats.org/officeDocument/2006/relationships/image" Target="../media/image-2-27.png"/><Relationship Id="rId28" Type="http://schemas.openxmlformats.org/officeDocument/2006/relationships/image" Target="../media/image-2-28.svg"/><Relationship Id="rId29" Type="http://schemas.openxmlformats.org/officeDocument/2006/relationships/slideLayout" Target="../slideLayouts/slideLayout1.xml"/><Relationship Id="rId3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image" Target="../media/image-3-13.png"/><Relationship Id="rId14" Type="http://schemas.openxmlformats.org/officeDocument/2006/relationships/image" Target="../media/image-3-14.svg"/><Relationship Id="rId15" Type="http://schemas.openxmlformats.org/officeDocument/2006/relationships/image" Target="../media/image-3-15.png"/><Relationship Id="rId16" Type="http://schemas.openxmlformats.org/officeDocument/2006/relationships/image" Target="../media/image-3-16.svg"/><Relationship Id="rId17" Type="http://schemas.openxmlformats.org/officeDocument/2006/relationships/image" Target="../media/image-3-17.png"/><Relationship Id="rId18" Type="http://schemas.openxmlformats.org/officeDocument/2006/relationships/image" Target="../media/image-3-18.svg"/><Relationship Id="rId19" Type="http://schemas.openxmlformats.org/officeDocument/2006/relationships/image" Target="../media/image-3-19.png"/><Relationship Id="rId20" Type="http://schemas.openxmlformats.org/officeDocument/2006/relationships/image" Target="../media/image-3-20.svg"/><Relationship Id="rId21" Type="http://schemas.openxmlformats.org/officeDocument/2006/relationships/image" Target="../media/image-3-21.png"/><Relationship Id="rId22" Type="http://schemas.openxmlformats.org/officeDocument/2006/relationships/image" Target="../media/image-3-22.svg"/><Relationship Id="rId23" Type="http://schemas.openxmlformats.org/officeDocument/2006/relationships/image" Target="../media/image-3-23.png"/><Relationship Id="rId24" Type="http://schemas.openxmlformats.org/officeDocument/2006/relationships/image" Target="../media/image-3-24.svg"/><Relationship Id="rId25" Type="http://schemas.openxmlformats.org/officeDocument/2006/relationships/image" Target="../media/image-3-25.png"/><Relationship Id="rId26" Type="http://schemas.openxmlformats.org/officeDocument/2006/relationships/image" Target="../media/image-3-26.svg"/><Relationship Id="rId27" Type="http://schemas.openxmlformats.org/officeDocument/2006/relationships/image" Target="../media/image-3-27.png"/><Relationship Id="rId28" Type="http://schemas.openxmlformats.org/officeDocument/2006/relationships/image" Target="../media/image-3-28.svg"/><Relationship Id="rId29" Type="http://schemas.openxmlformats.org/officeDocument/2006/relationships/image" Target="../media/image-3-29.png"/><Relationship Id="rId30" Type="http://schemas.openxmlformats.org/officeDocument/2006/relationships/image" Target="../media/image-3-30.svg"/><Relationship Id="rId31" Type="http://schemas.openxmlformats.org/officeDocument/2006/relationships/image" Target="../media/image-3-31.png"/><Relationship Id="rId32" Type="http://schemas.openxmlformats.org/officeDocument/2006/relationships/image" Target="../media/image-3-32.svg"/><Relationship Id="rId33" Type="http://schemas.openxmlformats.org/officeDocument/2006/relationships/slideLayout" Target="../slideLayouts/slideLayout1.xml"/><Relationship Id="rId3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image" Target="../media/image-4-13.png"/><Relationship Id="rId14" Type="http://schemas.openxmlformats.org/officeDocument/2006/relationships/image" Target="../media/image-4-14.svg"/><Relationship Id="rId15" Type="http://schemas.openxmlformats.org/officeDocument/2006/relationships/image" Target="../media/image-4-15.png"/><Relationship Id="rId16" Type="http://schemas.openxmlformats.org/officeDocument/2006/relationships/image" Target="../media/image-4-16.svg"/><Relationship Id="rId17" Type="http://schemas.openxmlformats.org/officeDocument/2006/relationships/image" Target="../media/image-4-17.png"/><Relationship Id="rId18" Type="http://schemas.openxmlformats.org/officeDocument/2006/relationships/image" Target="../media/image-4-18.sv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image" Target="../media/image-5-13.png"/><Relationship Id="rId14" Type="http://schemas.openxmlformats.org/officeDocument/2006/relationships/image" Target="../media/image-5-14.svg"/><Relationship Id="rId15" Type="http://schemas.openxmlformats.org/officeDocument/2006/relationships/image" Target="../media/image-5-15.png"/><Relationship Id="rId16" Type="http://schemas.openxmlformats.org/officeDocument/2006/relationships/image" Target="../media/image-5-16.svg"/><Relationship Id="rId17" Type="http://schemas.openxmlformats.org/officeDocument/2006/relationships/image" Target="../media/image-5-17.png"/><Relationship Id="rId18" Type="http://schemas.openxmlformats.org/officeDocument/2006/relationships/image" Target="../media/image-5-18.svg"/><Relationship Id="rId19" Type="http://schemas.openxmlformats.org/officeDocument/2006/relationships/image" Target="../media/image-5-19.png"/><Relationship Id="rId20" Type="http://schemas.openxmlformats.org/officeDocument/2006/relationships/image" Target="../media/image-5-20.sv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5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528"/>
          </a:solidFill>
          <a:ln w="12700">
            <a:solidFill>
              <a:srgbClr val="0615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" y="6565392"/>
            <a:ext cx="11292840" cy="0"/>
          </a:xfrm>
          <a:prstGeom prst="line">
            <a:avLst/>
          </a:prstGeom>
          <a:noFill/>
          <a:ln w="8890">
            <a:solidFill>
              <a:srgbClr val="2EA7FF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9768" y="6501384"/>
            <a:ext cx="128016" cy="128016"/>
          </a:xfrm>
          <a:prstGeom prst="ellipse">
            <a:avLst/>
          </a:prstGeom>
          <a:solidFill>
            <a:srgbClr val="061528">
              <a:alpha val="0"/>
            </a:srgbClr>
          </a:solidFill>
          <a:ln w="19050">
            <a:solidFill>
              <a:srgbClr val="2EA7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6519672"/>
            <a:ext cx="64008" cy="54864"/>
          </a:xfrm>
          <a:prstGeom prst="rect">
            <a:avLst/>
          </a:prstGeom>
          <a:solidFill>
            <a:srgbClr val="2EA7FF">
              <a:alpha val="70000"/>
            </a:srgbClr>
          </a:solidFill>
          <a:ln w="12700">
            <a:solidFill>
              <a:srgbClr val="2EA7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" y="6519672"/>
            <a:ext cx="64008" cy="54864"/>
          </a:xfrm>
          <a:prstGeom prst="rect">
            <a:avLst/>
          </a:prstGeom>
          <a:solidFill>
            <a:srgbClr val="2EA7FF">
              <a:alpha val="70000"/>
            </a:srgbClr>
          </a:solidFill>
          <a:ln w="12700">
            <a:solidFill>
              <a:srgbClr val="2EA7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9264" y="6519672"/>
            <a:ext cx="64008" cy="54864"/>
          </a:xfrm>
          <a:prstGeom prst="rect">
            <a:avLst/>
          </a:prstGeom>
          <a:solidFill>
            <a:srgbClr val="2EA7FF">
              <a:alpha val="70000"/>
            </a:srgbClr>
          </a:solidFill>
          <a:ln w="12700">
            <a:solidFill>
              <a:srgbClr val="2EA7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0704" y="6519672"/>
            <a:ext cx="64008" cy="54864"/>
          </a:xfrm>
          <a:prstGeom prst="rect">
            <a:avLst/>
          </a:prstGeom>
          <a:solidFill>
            <a:srgbClr val="2EA7FF">
              <a:alpha val="70000"/>
            </a:srgbClr>
          </a:solidFill>
          <a:ln w="12700">
            <a:solidFill>
              <a:srgbClr val="2EA7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80192" y="6519672"/>
            <a:ext cx="82296" cy="54864"/>
          </a:xfrm>
          <a:prstGeom prst="rect">
            <a:avLst/>
          </a:prstGeom>
          <a:solidFill>
            <a:srgbClr val="2EA7FF">
              <a:alpha val="65000"/>
            </a:srgbClr>
          </a:solidFill>
          <a:ln w="12700">
            <a:solidFill>
              <a:srgbClr val="2EA7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789920" y="6519672"/>
            <a:ext cx="82296" cy="54864"/>
          </a:xfrm>
          <a:prstGeom prst="rect">
            <a:avLst/>
          </a:prstGeom>
          <a:solidFill>
            <a:srgbClr val="2EA7FF">
              <a:alpha val="65000"/>
            </a:srgbClr>
          </a:solidFill>
          <a:ln w="12700">
            <a:solidFill>
              <a:srgbClr val="2EA7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899648" y="6519672"/>
            <a:ext cx="82296" cy="54864"/>
          </a:xfrm>
          <a:prstGeom prst="rect">
            <a:avLst/>
          </a:prstGeom>
          <a:solidFill>
            <a:srgbClr val="2EA7FF">
              <a:alpha val="65000"/>
            </a:srgbClr>
          </a:solidFill>
          <a:ln w="12700">
            <a:solidFill>
              <a:srgbClr val="2EA7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09376" y="6519672"/>
            <a:ext cx="82296" cy="54864"/>
          </a:xfrm>
          <a:prstGeom prst="rect">
            <a:avLst/>
          </a:prstGeom>
          <a:solidFill>
            <a:srgbClr val="2EA7FF">
              <a:alpha val="65000"/>
            </a:srgbClr>
          </a:solidFill>
          <a:ln w="12700">
            <a:solidFill>
              <a:srgbClr val="2EA7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19104" y="6519672"/>
            <a:ext cx="82296" cy="54864"/>
          </a:xfrm>
          <a:prstGeom prst="rect">
            <a:avLst/>
          </a:prstGeom>
          <a:solidFill>
            <a:srgbClr val="2EA7FF">
              <a:alpha val="65000"/>
            </a:srgbClr>
          </a:solidFill>
          <a:ln w="12700">
            <a:solidFill>
              <a:srgbClr val="2EA7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1627632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Cyberdog Demo</a:t>
            </a:r>
            <a:endParaRPr lang="en-US" sz="3900" dirty="0"/>
          </a:p>
        </p:txBody>
      </p:sp>
      <p:sp>
        <p:nvSpPr>
          <p:cNvPr id="15" name="Text 13"/>
          <p:cNvSpPr/>
          <p:nvPr/>
        </p:nvSpPr>
        <p:spPr>
          <a:xfrm>
            <a:off x="5532120" y="1627632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9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自主运行技术方案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594360" y="2487168"/>
            <a:ext cx="5760720" cy="0"/>
          </a:xfrm>
          <a:prstGeom prst="line">
            <a:avLst/>
          </a:prstGeom>
          <a:noFill/>
          <a:ln w="17780">
            <a:solidFill>
              <a:srgbClr val="FF9B2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2880360"/>
            <a:ext cx="41148" cy="320040"/>
          </a:xfrm>
          <a:prstGeom prst="rect">
            <a:avLst/>
          </a:prstGeom>
          <a:solidFill>
            <a:srgbClr val="FF9B28"/>
          </a:solidFill>
          <a:ln w="12700">
            <a:solidFill>
              <a:srgbClr val="FF9B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2816352"/>
            <a:ext cx="6126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面向小米杯多赛段任务的感知、控制与策略闭环</a:t>
            </a:r>
            <a:endParaRPr lang="en-US" sz="21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0" y="2880360"/>
            <a:ext cx="3749040" cy="237744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594360" y="3794760"/>
            <a:ext cx="1600200" cy="530352"/>
          </a:xfrm>
          <a:prstGeom prst="roundRect">
            <a:avLst/>
          </a:prstGeom>
          <a:solidFill>
            <a:srgbClr val="061528">
              <a:alpha val="85000"/>
            </a:srgbClr>
          </a:solidFill>
          <a:ln w="12700">
            <a:solidFill>
              <a:srgbClr val="FF9B28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4088" y="3886200"/>
            <a:ext cx="329184" cy="32918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097280" y="3931920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2606040" y="3794760"/>
            <a:ext cx="1600200" cy="530352"/>
          </a:xfrm>
          <a:prstGeom prst="roundRect">
            <a:avLst/>
          </a:prstGeom>
          <a:solidFill>
            <a:srgbClr val="061528">
              <a:alpha val="85000"/>
            </a:srgbClr>
          </a:solidFill>
          <a:ln w="12700">
            <a:solidFill>
              <a:srgbClr val="32C7FF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15768" y="3886200"/>
            <a:ext cx="329184" cy="32918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3108960" y="3931920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C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4617720" y="3794760"/>
            <a:ext cx="1600200" cy="530352"/>
          </a:xfrm>
          <a:prstGeom prst="roundRect">
            <a:avLst/>
          </a:prstGeom>
          <a:solidFill>
            <a:srgbClr val="061528">
              <a:alpha val="85000"/>
            </a:srgbClr>
          </a:solidFill>
          <a:ln w="12700">
            <a:solidFill>
              <a:srgbClr val="FFD54A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27448" y="3886200"/>
            <a:ext cx="329184" cy="32918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120640" y="3931920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120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3504" y="5257800"/>
            <a:ext cx="658368" cy="65836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371600" y="5285232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CD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2026全国大学生计算机系统能力大赛 · 智能系统创新设计赛（小米杯）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1371600" y="56327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CD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课堂汇报 / 项目汇报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15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528"/>
          </a:solidFill>
          <a:ln w="12700">
            <a:solidFill>
              <a:srgbClr val="0615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" y="6565392"/>
            <a:ext cx="11292840" cy="0"/>
          </a:xfrm>
          <a:prstGeom prst="line">
            <a:avLst/>
          </a:prstGeom>
          <a:noFill/>
          <a:ln w="8890">
            <a:solidFill>
              <a:srgbClr val="2EA7FF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9768" y="6501384"/>
            <a:ext cx="128016" cy="128016"/>
          </a:xfrm>
          <a:prstGeom prst="ellipse">
            <a:avLst/>
          </a:prstGeom>
          <a:solidFill>
            <a:srgbClr val="061528">
              <a:alpha val="0"/>
            </a:srgbClr>
          </a:solidFill>
          <a:ln w="19050">
            <a:solidFill>
              <a:srgbClr val="2EA7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6519672"/>
            <a:ext cx="64008" cy="54864"/>
          </a:xfrm>
          <a:prstGeom prst="rect">
            <a:avLst/>
          </a:prstGeom>
          <a:solidFill>
            <a:srgbClr val="2EA7FF">
              <a:alpha val="70000"/>
            </a:srgbClr>
          </a:solidFill>
          <a:ln w="12700">
            <a:solidFill>
              <a:srgbClr val="2EA7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" y="6519672"/>
            <a:ext cx="64008" cy="54864"/>
          </a:xfrm>
          <a:prstGeom prst="rect">
            <a:avLst/>
          </a:prstGeom>
          <a:solidFill>
            <a:srgbClr val="2EA7FF">
              <a:alpha val="70000"/>
            </a:srgbClr>
          </a:solidFill>
          <a:ln w="12700">
            <a:solidFill>
              <a:srgbClr val="2EA7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9264" y="6519672"/>
            <a:ext cx="64008" cy="54864"/>
          </a:xfrm>
          <a:prstGeom prst="rect">
            <a:avLst/>
          </a:prstGeom>
          <a:solidFill>
            <a:srgbClr val="2EA7FF">
              <a:alpha val="70000"/>
            </a:srgbClr>
          </a:solidFill>
          <a:ln w="12700">
            <a:solidFill>
              <a:srgbClr val="2EA7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0704" y="6519672"/>
            <a:ext cx="64008" cy="54864"/>
          </a:xfrm>
          <a:prstGeom prst="rect">
            <a:avLst/>
          </a:prstGeom>
          <a:solidFill>
            <a:srgbClr val="2EA7FF">
              <a:alpha val="70000"/>
            </a:srgbClr>
          </a:solidFill>
          <a:ln w="12700">
            <a:solidFill>
              <a:srgbClr val="2EA7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80192" y="6519672"/>
            <a:ext cx="82296" cy="54864"/>
          </a:xfrm>
          <a:prstGeom prst="rect">
            <a:avLst/>
          </a:prstGeom>
          <a:solidFill>
            <a:srgbClr val="2EA7FF">
              <a:alpha val="65000"/>
            </a:srgbClr>
          </a:solidFill>
          <a:ln w="12700">
            <a:solidFill>
              <a:srgbClr val="2EA7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789920" y="6519672"/>
            <a:ext cx="82296" cy="54864"/>
          </a:xfrm>
          <a:prstGeom prst="rect">
            <a:avLst/>
          </a:prstGeom>
          <a:solidFill>
            <a:srgbClr val="2EA7FF">
              <a:alpha val="65000"/>
            </a:srgbClr>
          </a:solidFill>
          <a:ln w="12700">
            <a:solidFill>
              <a:srgbClr val="2EA7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899648" y="6519672"/>
            <a:ext cx="82296" cy="54864"/>
          </a:xfrm>
          <a:prstGeom prst="rect">
            <a:avLst/>
          </a:prstGeom>
          <a:solidFill>
            <a:srgbClr val="2EA7FF">
              <a:alpha val="65000"/>
            </a:srgbClr>
          </a:solidFill>
          <a:ln w="12700">
            <a:solidFill>
              <a:srgbClr val="2EA7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09376" y="6519672"/>
            <a:ext cx="82296" cy="54864"/>
          </a:xfrm>
          <a:prstGeom prst="rect">
            <a:avLst/>
          </a:prstGeom>
          <a:solidFill>
            <a:srgbClr val="2EA7FF">
              <a:alpha val="65000"/>
            </a:srgbClr>
          </a:solidFill>
          <a:ln w="12700">
            <a:solidFill>
              <a:srgbClr val="2EA7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19104" y="6519672"/>
            <a:ext cx="82296" cy="54864"/>
          </a:xfrm>
          <a:prstGeom prst="rect">
            <a:avLst/>
          </a:prstGeom>
          <a:solidFill>
            <a:srgbClr val="2EA7FF">
              <a:alpha val="65000"/>
            </a:srgbClr>
          </a:solidFill>
          <a:ln w="12700">
            <a:solidFill>
              <a:srgbClr val="2EA7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58600" y="645566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9BCD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4360" y="65836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赛题约束：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24612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9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从“能跑”到“能自主完成全流程”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594360" y="1417320"/>
            <a:ext cx="41148" cy="274320"/>
          </a:xfrm>
          <a:prstGeom prst="rect">
            <a:avLst/>
          </a:prstGeom>
          <a:solidFill>
            <a:srgbClr val="FF9B28"/>
          </a:solidFill>
          <a:ln w="12700">
            <a:solidFill>
              <a:srgbClr val="FF9B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" y="1380744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7F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小米杯赛题更强调复杂环境中的全程自主运行能力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66928" y="2157984"/>
            <a:ext cx="1572768" cy="1417320"/>
          </a:xfrm>
          <a:prstGeom prst="roundRect">
            <a:avLst/>
          </a:prstGeom>
          <a:solidFill>
            <a:srgbClr val="0A2746">
              <a:alpha val="95000"/>
            </a:srgbClr>
          </a:solidFill>
          <a:ln w="11430">
            <a:solidFill>
              <a:srgbClr val="2EA7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8992" y="1773936"/>
            <a:ext cx="530352" cy="347472"/>
          </a:xfrm>
          <a:prstGeom prst="roundRect">
            <a:avLst/>
          </a:prstGeom>
          <a:solidFill>
            <a:srgbClr val="FF9B28"/>
          </a:solidFill>
          <a:ln w="6350">
            <a:solidFill>
              <a:srgbClr val="FF9B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78992" y="1824228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" y="2386584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石径探路</a:t>
            </a:r>
            <a:endParaRPr lang="en-US" sz="15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" y="2843784"/>
            <a:ext cx="658368" cy="50292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2139696" y="2871216"/>
            <a:ext cx="301752" cy="0"/>
          </a:xfrm>
          <a:prstGeom prst="line">
            <a:avLst/>
          </a:prstGeom>
          <a:noFill/>
          <a:ln w="20320">
            <a:solidFill>
              <a:srgbClr val="2EA7F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258568" y="2839212"/>
            <a:ext cx="64008" cy="64008"/>
          </a:xfrm>
          <a:prstGeom prst="ellipse">
            <a:avLst/>
          </a:prstGeom>
          <a:solidFill>
            <a:srgbClr val="32C7FF"/>
          </a:solidFill>
          <a:ln w="12700">
            <a:solidFill>
              <a:srgbClr val="32C7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441448" y="2157984"/>
            <a:ext cx="1572768" cy="1417320"/>
          </a:xfrm>
          <a:prstGeom prst="roundRect">
            <a:avLst/>
          </a:prstGeom>
          <a:solidFill>
            <a:srgbClr val="0A2746">
              <a:alpha val="95000"/>
            </a:srgbClr>
          </a:solidFill>
          <a:ln w="11430">
            <a:solidFill>
              <a:srgbClr val="2EA7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953512" y="1773936"/>
            <a:ext cx="530352" cy="347472"/>
          </a:xfrm>
          <a:prstGeom prst="roundRect">
            <a:avLst/>
          </a:prstGeom>
          <a:solidFill>
            <a:srgbClr val="FF9B28"/>
          </a:solidFill>
          <a:ln w="6350">
            <a:solidFill>
              <a:srgbClr val="FF9B2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953512" y="1824228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2532888" y="2386584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荒野寻珠</a:t>
            </a:r>
            <a:endParaRPr lang="en-US" sz="1500" dirty="0"/>
          </a:p>
        </p:txBody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98648" y="2843784"/>
            <a:ext cx="658368" cy="502920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>
            <a:off x="4014216" y="2871216"/>
            <a:ext cx="301752" cy="0"/>
          </a:xfrm>
          <a:prstGeom prst="line">
            <a:avLst/>
          </a:prstGeom>
          <a:noFill/>
          <a:ln w="20320">
            <a:solidFill>
              <a:srgbClr val="2EA7FF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4133088" y="2839212"/>
            <a:ext cx="64008" cy="64008"/>
          </a:xfrm>
          <a:prstGeom prst="ellipse">
            <a:avLst/>
          </a:prstGeom>
          <a:solidFill>
            <a:srgbClr val="32C7FF"/>
          </a:solidFill>
          <a:ln w="12700">
            <a:solidFill>
              <a:srgbClr val="32C7FF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315968" y="2157984"/>
            <a:ext cx="1572768" cy="1417320"/>
          </a:xfrm>
          <a:prstGeom prst="roundRect">
            <a:avLst/>
          </a:prstGeom>
          <a:solidFill>
            <a:srgbClr val="0A2746">
              <a:alpha val="95000"/>
            </a:srgbClr>
          </a:solidFill>
          <a:ln w="11430">
            <a:solidFill>
              <a:srgbClr val="2EA7FF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4828032" y="1773936"/>
            <a:ext cx="530352" cy="347472"/>
          </a:xfrm>
          <a:prstGeom prst="roundRect">
            <a:avLst/>
          </a:prstGeom>
          <a:solidFill>
            <a:srgbClr val="FF9B28"/>
          </a:solidFill>
          <a:ln w="6350">
            <a:solidFill>
              <a:srgbClr val="FF9B28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828032" y="1824228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300" dirty="0"/>
          </a:p>
        </p:txBody>
      </p:sp>
      <p:sp>
        <p:nvSpPr>
          <p:cNvPr id="36" name="Text 32"/>
          <p:cNvSpPr/>
          <p:nvPr/>
        </p:nvSpPr>
        <p:spPr>
          <a:xfrm>
            <a:off x="4407408" y="2386584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曲道冲锋</a:t>
            </a:r>
            <a:endParaRPr lang="en-US" sz="1500" dirty="0"/>
          </a:p>
        </p:txBody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73168" y="2843784"/>
            <a:ext cx="658368" cy="502920"/>
          </a:xfrm>
          <a:prstGeom prst="rect">
            <a:avLst/>
          </a:prstGeom>
        </p:spPr>
      </p:pic>
      <p:sp>
        <p:nvSpPr>
          <p:cNvPr id="38" name="Shape 33"/>
          <p:cNvSpPr/>
          <p:nvPr/>
        </p:nvSpPr>
        <p:spPr>
          <a:xfrm>
            <a:off x="5888736" y="2871216"/>
            <a:ext cx="301752" cy="0"/>
          </a:xfrm>
          <a:prstGeom prst="line">
            <a:avLst/>
          </a:prstGeom>
          <a:noFill/>
          <a:ln w="20320">
            <a:solidFill>
              <a:srgbClr val="2EA7FF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6007608" y="2839212"/>
            <a:ext cx="64008" cy="64008"/>
          </a:xfrm>
          <a:prstGeom prst="ellipse">
            <a:avLst/>
          </a:prstGeom>
          <a:solidFill>
            <a:srgbClr val="32C7FF"/>
          </a:solidFill>
          <a:ln w="12700">
            <a:solidFill>
              <a:srgbClr val="32C7FF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6190488" y="2157984"/>
            <a:ext cx="1572768" cy="1417320"/>
          </a:xfrm>
          <a:prstGeom prst="roundRect">
            <a:avLst/>
          </a:prstGeom>
          <a:solidFill>
            <a:srgbClr val="0A2746">
              <a:alpha val="95000"/>
            </a:srgbClr>
          </a:solidFill>
          <a:ln w="11430">
            <a:solidFill>
              <a:srgbClr val="2EA7FF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6702552" y="1773936"/>
            <a:ext cx="530352" cy="347472"/>
          </a:xfrm>
          <a:prstGeom prst="roundRect">
            <a:avLst/>
          </a:prstGeom>
          <a:solidFill>
            <a:srgbClr val="FF9B28"/>
          </a:solidFill>
          <a:ln w="6350">
            <a:solidFill>
              <a:srgbClr val="FF9B28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6702552" y="1824228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300" dirty="0"/>
          </a:p>
        </p:txBody>
      </p:sp>
      <p:sp>
        <p:nvSpPr>
          <p:cNvPr id="43" name="Text 38"/>
          <p:cNvSpPr/>
          <p:nvPr/>
        </p:nvSpPr>
        <p:spPr>
          <a:xfrm>
            <a:off x="6281928" y="2386584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深隧寻珍</a:t>
            </a:r>
            <a:endParaRPr lang="en-US" sz="1500" dirty="0"/>
          </a:p>
        </p:txBody>
      </p:sp>
      <p:pic>
        <p:nvPicPr>
          <p:cNvPr id="4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47688" y="2843784"/>
            <a:ext cx="658368" cy="502920"/>
          </a:xfrm>
          <a:prstGeom prst="rect">
            <a:avLst/>
          </a:prstGeom>
        </p:spPr>
      </p:pic>
      <p:sp>
        <p:nvSpPr>
          <p:cNvPr id="45" name="Shape 39"/>
          <p:cNvSpPr/>
          <p:nvPr/>
        </p:nvSpPr>
        <p:spPr>
          <a:xfrm>
            <a:off x="7763256" y="2871216"/>
            <a:ext cx="301752" cy="0"/>
          </a:xfrm>
          <a:prstGeom prst="line">
            <a:avLst/>
          </a:prstGeom>
          <a:noFill/>
          <a:ln w="20320">
            <a:solidFill>
              <a:srgbClr val="2EA7FF"/>
            </a:solidFill>
            <a:prstDash val="solid"/>
          </a:ln>
        </p:spPr>
      </p:sp>
      <p:sp>
        <p:nvSpPr>
          <p:cNvPr id="46" name="Shape 40"/>
          <p:cNvSpPr/>
          <p:nvPr/>
        </p:nvSpPr>
        <p:spPr>
          <a:xfrm>
            <a:off x="7882128" y="2839212"/>
            <a:ext cx="64008" cy="64008"/>
          </a:xfrm>
          <a:prstGeom prst="ellipse">
            <a:avLst/>
          </a:prstGeom>
          <a:solidFill>
            <a:srgbClr val="32C7FF"/>
          </a:solidFill>
          <a:ln w="12700">
            <a:solidFill>
              <a:srgbClr val="32C7FF"/>
            </a:solidFill>
            <a:prstDash val="solid"/>
          </a:ln>
        </p:spPr>
      </p:sp>
      <p:sp>
        <p:nvSpPr>
          <p:cNvPr id="47" name="Shape 41"/>
          <p:cNvSpPr/>
          <p:nvPr/>
        </p:nvSpPr>
        <p:spPr>
          <a:xfrm>
            <a:off x="8065008" y="2157984"/>
            <a:ext cx="1572768" cy="1417320"/>
          </a:xfrm>
          <a:prstGeom prst="roundRect">
            <a:avLst/>
          </a:prstGeom>
          <a:solidFill>
            <a:srgbClr val="0A2746">
              <a:alpha val="95000"/>
            </a:srgbClr>
          </a:solidFill>
          <a:ln w="11430">
            <a:solidFill>
              <a:srgbClr val="2EA7FF"/>
            </a:solidFill>
            <a:prstDash val="solid"/>
          </a:ln>
        </p:spPr>
      </p:sp>
      <p:sp>
        <p:nvSpPr>
          <p:cNvPr id="48" name="Shape 42"/>
          <p:cNvSpPr/>
          <p:nvPr/>
        </p:nvSpPr>
        <p:spPr>
          <a:xfrm>
            <a:off x="8577072" y="1773936"/>
            <a:ext cx="530352" cy="347472"/>
          </a:xfrm>
          <a:prstGeom prst="roundRect">
            <a:avLst/>
          </a:prstGeom>
          <a:solidFill>
            <a:srgbClr val="FF9B28"/>
          </a:solidFill>
          <a:ln w="6350">
            <a:solidFill>
              <a:srgbClr val="FF9B28"/>
            </a:solidFill>
            <a:prstDash val="solid"/>
          </a:ln>
        </p:spPr>
      </p:sp>
      <p:sp>
        <p:nvSpPr>
          <p:cNvPr id="49" name="Text 43"/>
          <p:cNvSpPr/>
          <p:nvPr/>
        </p:nvSpPr>
        <p:spPr>
          <a:xfrm>
            <a:off x="8577072" y="1824228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1300" dirty="0"/>
          </a:p>
        </p:txBody>
      </p:sp>
      <p:sp>
        <p:nvSpPr>
          <p:cNvPr id="50" name="Text 44"/>
          <p:cNvSpPr/>
          <p:nvPr/>
        </p:nvSpPr>
        <p:spPr>
          <a:xfrm>
            <a:off x="8156448" y="2386584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孤梁稳渡</a:t>
            </a:r>
            <a:endParaRPr lang="en-US" sz="1500" dirty="0"/>
          </a:p>
        </p:txBody>
      </p:sp>
      <p:pic>
        <p:nvPicPr>
          <p:cNvPr id="5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522208" y="2843784"/>
            <a:ext cx="658368" cy="502920"/>
          </a:xfrm>
          <a:prstGeom prst="rect">
            <a:avLst/>
          </a:prstGeom>
        </p:spPr>
      </p:pic>
      <p:sp>
        <p:nvSpPr>
          <p:cNvPr id="52" name="Shape 45"/>
          <p:cNvSpPr/>
          <p:nvPr/>
        </p:nvSpPr>
        <p:spPr>
          <a:xfrm>
            <a:off x="9637776" y="2871216"/>
            <a:ext cx="301752" cy="0"/>
          </a:xfrm>
          <a:prstGeom prst="line">
            <a:avLst/>
          </a:prstGeom>
          <a:noFill/>
          <a:ln w="20320">
            <a:solidFill>
              <a:srgbClr val="2EA7FF"/>
            </a:solidFill>
            <a:prstDash val="solid"/>
          </a:ln>
        </p:spPr>
      </p:sp>
      <p:sp>
        <p:nvSpPr>
          <p:cNvPr id="53" name="Shape 46"/>
          <p:cNvSpPr/>
          <p:nvPr/>
        </p:nvSpPr>
        <p:spPr>
          <a:xfrm>
            <a:off x="9756648" y="2839212"/>
            <a:ext cx="64008" cy="64008"/>
          </a:xfrm>
          <a:prstGeom prst="ellipse">
            <a:avLst/>
          </a:prstGeom>
          <a:solidFill>
            <a:srgbClr val="32C7FF"/>
          </a:solidFill>
          <a:ln w="12700">
            <a:solidFill>
              <a:srgbClr val="32C7FF"/>
            </a:solidFill>
            <a:prstDash val="solid"/>
          </a:ln>
        </p:spPr>
      </p:sp>
      <p:sp>
        <p:nvSpPr>
          <p:cNvPr id="54" name="Shape 47"/>
          <p:cNvSpPr/>
          <p:nvPr/>
        </p:nvSpPr>
        <p:spPr>
          <a:xfrm>
            <a:off x="9939528" y="2157984"/>
            <a:ext cx="1572768" cy="1417320"/>
          </a:xfrm>
          <a:prstGeom prst="roundRect">
            <a:avLst/>
          </a:prstGeom>
          <a:solidFill>
            <a:srgbClr val="0A2746">
              <a:alpha val="95000"/>
            </a:srgbClr>
          </a:solidFill>
          <a:ln w="11430">
            <a:solidFill>
              <a:srgbClr val="2EA7FF"/>
            </a:solidFill>
            <a:prstDash val="solid"/>
          </a:ln>
        </p:spPr>
      </p:sp>
      <p:sp>
        <p:nvSpPr>
          <p:cNvPr id="55" name="Shape 48"/>
          <p:cNvSpPr/>
          <p:nvPr/>
        </p:nvSpPr>
        <p:spPr>
          <a:xfrm>
            <a:off x="10451592" y="1773936"/>
            <a:ext cx="530352" cy="347472"/>
          </a:xfrm>
          <a:prstGeom prst="roundRect">
            <a:avLst/>
          </a:prstGeom>
          <a:solidFill>
            <a:srgbClr val="FF9B28"/>
          </a:solidFill>
          <a:ln w="6350">
            <a:solidFill>
              <a:srgbClr val="FF9B28"/>
            </a:solidFill>
            <a:prstDash val="solid"/>
          </a:ln>
        </p:spPr>
      </p:sp>
      <p:sp>
        <p:nvSpPr>
          <p:cNvPr id="56" name="Text 49"/>
          <p:cNvSpPr/>
          <p:nvPr/>
        </p:nvSpPr>
        <p:spPr>
          <a:xfrm>
            <a:off x="10451592" y="1824228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1300" dirty="0"/>
          </a:p>
        </p:txBody>
      </p:sp>
      <p:sp>
        <p:nvSpPr>
          <p:cNvPr id="57" name="Text 50"/>
          <p:cNvSpPr/>
          <p:nvPr/>
        </p:nvSpPr>
        <p:spPr>
          <a:xfrm>
            <a:off x="10030968" y="2386584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撷金建功</a:t>
            </a:r>
            <a:endParaRPr lang="en-US" sz="1500" dirty="0"/>
          </a:p>
        </p:txBody>
      </p:sp>
      <p:pic>
        <p:nvPicPr>
          <p:cNvPr id="5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396728" y="2843784"/>
            <a:ext cx="658368" cy="502920"/>
          </a:xfrm>
          <a:prstGeom prst="rect">
            <a:avLst/>
          </a:prstGeom>
        </p:spPr>
      </p:pic>
      <p:sp>
        <p:nvSpPr>
          <p:cNvPr id="59" name="Shape 51"/>
          <p:cNvSpPr/>
          <p:nvPr/>
        </p:nvSpPr>
        <p:spPr>
          <a:xfrm>
            <a:off x="502920" y="3886200"/>
            <a:ext cx="5532120" cy="2148840"/>
          </a:xfrm>
          <a:prstGeom prst="roundRect">
            <a:avLst>
              <a:gd name="adj" fmla="val 3404"/>
            </a:avLst>
          </a:prstGeom>
          <a:solidFill>
            <a:srgbClr val="071D36">
              <a:alpha val="92000"/>
            </a:srgbClr>
          </a:solidFill>
          <a:ln w="11430">
            <a:solidFill>
              <a:srgbClr val="2EA7FF">
                <a:alpha val="88000"/>
              </a:srgbClr>
            </a:solidFill>
            <a:prstDash val="solid"/>
          </a:ln>
        </p:spPr>
      </p:sp>
      <p:sp>
        <p:nvSpPr>
          <p:cNvPr id="60" name="Shape 52"/>
          <p:cNvSpPr/>
          <p:nvPr/>
        </p:nvSpPr>
        <p:spPr>
          <a:xfrm>
            <a:off x="594360" y="4041648"/>
            <a:ext cx="36576" cy="237744"/>
          </a:xfrm>
          <a:prstGeom prst="rect">
            <a:avLst/>
          </a:prstGeom>
          <a:solidFill>
            <a:srgbClr val="FF9B28"/>
          </a:solidFill>
          <a:ln w="12700">
            <a:solidFill>
              <a:srgbClr val="FF9B28"/>
            </a:solidFill>
            <a:prstDash val="solid"/>
          </a:ln>
        </p:spPr>
      </p:sp>
      <p:sp>
        <p:nvSpPr>
          <p:cNvPr id="61" name="Text 53"/>
          <p:cNvSpPr/>
          <p:nvPr/>
        </p:nvSpPr>
        <p:spPr>
          <a:xfrm>
            <a:off x="731520" y="396849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赛题核心约束</a:t>
            </a:r>
            <a:endParaRPr lang="en-US" sz="1500" dirty="0"/>
          </a:p>
        </p:txBody>
      </p:sp>
      <p:sp>
        <p:nvSpPr>
          <p:cNvPr id="62" name="Shape 54"/>
          <p:cNvSpPr/>
          <p:nvPr/>
        </p:nvSpPr>
        <p:spPr>
          <a:xfrm>
            <a:off x="6217920" y="388620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071D36">
              <a:alpha val="92000"/>
            </a:srgbClr>
          </a:solidFill>
          <a:ln w="11430">
            <a:solidFill>
              <a:srgbClr val="FF9B28">
                <a:alpha val="88000"/>
              </a:srgbClr>
            </a:solidFill>
            <a:prstDash val="solid"/>
          </a:ln>
        </p:spPr>
      </p:sp>
      <p:sp>
        <p:nvSpPr>
          <p:cNvPr id="63" name="Shape 55"/>
          <p:cNvSpPr/>
          <p:nvPr/>
        </p:nvSpPr>
        <p:spPr>
          <a:xfrm>
            <a:off x="6309360" y="4041648"/>
            <a:ext cx="36576" cy="237744"/>
          </a:xfrm>
          <a:prstGeom prst="rect">
            <a:avLst/>
          </a:prstGeom>
          <a:solidFill>
            <a:srgbClr val="FF9B28"/>
          </a:solidFill>
          <a:ln w="12700">
            <a:solidFill>
              <a:srgbClr val="FF9B28"/>
            </a:solidFill>
            <a:prstDash val="solid"/>
          </a:ln>
        </p:spPr>
      </p:sp>
      <p:sp>
        <p:nvSpPr>
          <p:cNvPr id="64" name="Text 56"/>
          <p:cNvSpPr/>
          <p:nvPr/>
        </p:nvSpPr>
        <p:spPr>
          <a:xfrm>
            <a:off x="6446520" y="396849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系统挑战</a:t>
            </a:r>
            <a:endParaRPr lang="en-US" sz="1500" dirty="0"/>
          </a:p>
        </p:txBody>
      </p:sp>
      <p:sp>
        <p:nvSpPr>
          <p:cNvPr id="65" name="Shape 57"/>
          <p:cNvSpPr/>
          <p:nvPr/>
        </p:nvSpPr>
        <p:spPr>
          <a:xfrm>
            <a:off x="667512" y="4480560"/>
            <a:ext cx="1069848" cy="1234440"/>
          </a:xfrm>
          <a:prstGeom prst="roundRect">
            <a:avLst/>
          </a:prstGeom>
          <a:solidFill>
            <a:srgbClr val="0A2746"/>
          </a:solidFill>
          <a:ln w="9525">
            <a:solidFill>
              <a:srgbClr val="2EA7FF"/>
            </a:solidFill>
            <a:prstDash val="solid"/>
          </a:ln>
        </p:spPr>
      </p:sp>
      <p:pic>
        <p:nvPicPr>
          <p:cNvPr id="66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87552" y="4645152"/>
            <a:ext cx="420624" cy="420624"/>
          </a:xfrm>
          <a:prstGeom prst="rect">
            <a:avLst/>
          </a:prstGeom>
        </p:spPr>
      </p:pic>
      <p:sp>
        <p:nvSpPr>
          <p:cNvPr id="67" name="Text 58"/>
          <p:cNvSpPr/>
          <p:nvPr/>
        </p:nvSpPr>
        <p:spPr>
          <a:xfrm>
            <a:off x="740664" y="5212080"/>
            <a:ext cx="9144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7F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15分钟内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7F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完成全程任务</a:t>
            </a:r>
            <a:endParaRPr lang="en-US" sz="1050" dirty="0"/>
          </a:p>
        </p:txBody>
      </p:sp>
      <p:sp>
        <p:nvSpPr>
          <p:cNvPr id="68" name="Shape 59"/>
          <p:cNvSpPr/>
          <p:nvPr/>
        </p:nvSpPr>
        <p:spPr>
          <a:xfrm>
            <a:off x="6382512" y="4480560"/>
            <a:ext cx="1069848" cy="1234440"/>
          </a:xfrm>
          <a:prstGeom prst="roundRect">
            <a:avLst/>
          </a:prstGeom>
          <a:solidFill>
            <a:srgbClr val="0A2746"/>
          </a:solidFill>
          <a:ln w="9525">
            <a:solidFill>
              <a:srgbClr val="FF9B28"/>
            </a:solidFill>
            <a:prstDash val="solid"/>
          </a:ln>
        </p:spPr>
      </p:sp>
      <p:pic>
        <p:nvPicPr>
          <p:cNvPr id="69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702552" y="4645152"/>
            <a:ext cx="420624" cy="420624"/>
          </a:xfrm>
          <a:prstGeom prst="rect">
            <a:avLst/>
          </a:prstGeom>
        </p:spPr>
      </p:pic>
      <p:sp>
        <p:nvSpPr>
          <p:cNvPr id="70" name="Text 60"/>
          <p:cNvSpPr/>
          <p:nvPr/>
        </p:nvSpPr>
        <p:spPr>
          <a:xfrm>
            <a:off x="6455664" y="5212080"/>
            <a:ext cx="914400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7F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感知：光照变化与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7F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目标识别稳定性</a:t>
            </a:r>
            <a:endParaRPr lang="en-US" sz="950" dirty="0"/>
          </a:p>
        </p:txBody>
      </p:sp>
      <p:sp>
        <p:nvSpPr>
          <p:cNvPr id="71" name="Shape 61"/>
          <p:cNvSpPr/>
          <p:nvPr/>
        </p:nvSpPr>
        <p:spPr>
          <a:xfrm>
            <a:off x="1901952" y="4480560"/>
            <a:ext cx="1069848" cy="1234440"/>
          </a:xfrm>
          <a:prstGeom prst="roundRect">
            <a:avLst/>
          </a:prstGeom>
          <a:solidFill>
            <a:srgbClr val="0A2746"/>
          </a:solidFill>
          <a:ln w="9525">
            <a:solidFill>
              <a:srgbClr val="2EA7FF"/>
            </a:solidFill>
            <a:prstDash val="solid"/>
          </a:ln>
        </p:spPr>
      </p:sp>
      <p:pic>
        <p:nvPicPr>
          <p:cNvPr id="72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221992" y="4645152"/>
            <a:ext cx="420624" cy="420624"/>
          </a:xfrm>
          <a:prstGeom prst="rect">
            <a:avLst/>
          </a:prstGeom>
        </p:spPr>
      </p:pic>
      <p:sp>
        <p:nvSpPr>
          <p:cNvPr id="73" name="Text 62"/>
          <p:cNvSpPr/>
          <p:nvPr/>
        </p:nvSpPr>
        <p:spPr>
          <a:xfrm>
            <a:off x="1975104" y="5212080"/>
            <a:ext cx="9144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7F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启动后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7F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不得人为操控</a:t>
            </a:r>
            <a:endParaRPr lang="en-US" sz="1050" dirty="0"/>
          </a:p>
        </p:txBody>
      </p:sp>
      <p:sp>
        <p:nvSpPr>
          <p:cNvPr id="74" name="Shape 63"/>
          <p:cNvSpPr/>
          <p:nvPr/>
        </p:nvSpPr>
        <p:spPr>
          <a:xfrm>
            <a:off x="7607808" y="4480560"/>
            <a:ext cx="1069848" cy="1234440"/>
          </a:xfrm>
          <a:prstGeom prst="roundRect">
            <a:avLst/>
          </a:prstGeom>
          <a:solidFill>
            <a:srgbClr val="0A2746"/>
          </a:solidFill>
          <a:ln w="9525">
            <a:solidFill>
              <a:srgbClr val="FF9B28"/>
            </a:solidFill>
            <a:prstDash val="solid"/>
          </a:ln>
        </p:spPr>
      </p:sp>
      <p:pic>
        <p:nvPicPr>
          <p:cNvPr id="75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927848" y="4645152"/>
            <a:ext cx="420624" cy="420624"/>
          </a:xfrm>
          <a:prstGeom prst="rect">
            <a:avLst/>
          </a:prstGeom>
        </p:spPr>
      </p:pic>
      <p:sp>
        <p:nvSpPr>
          <p:cNvPr id="76" name="Text 64"/>
          <p:cNvSpPr/>
          <p:nvPr/>
        </p:nvSpPr>
        <p:spPr>
          <a:xfrm>
            <a:off x="7680960" y="5212080"/>
            <a:ext cx="914400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7F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控制：动作执行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7F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与姿态纠偏</a:t>
            </a:r>
            <a:endParaRPr lang="en-US" sz="950" dirty="0"/>
          </a:p>
        </p:txBody>
      </p:sp>
      <p:sp>
        <p:nvSpPr>
          <p:cNvPr id="77" name="Shape 65"/>
          <p:cNvSpPr/>
          <p:nvPr/>
        </p:nvSpPr>
        <p:spPr>
          <a:xfrm>
            <a:off x="3136392" y="4480560"/>
            <a:ext cx="1069848" cy="1234440"/>
          </a:xfrm>
          <a:prstGeom prst="roundRect">
            <a:avLst/>
          </a:prstGeom>
          <a:solidFill>
            <a:srgbClr val="0A2746"/>
          </a:solidFill>
          <a:ln w="9525">
            <a:solidFill>
              <a:srgbClr val="2EA7FF"/>
            </a:solidFill>
            <a:prstDash val="solid"/>
          </a:ln>
        </p:spPr>
      </p:sp>
      <p:pic>
        <p:nvPicPr>
          <p:cNvPr id="78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456432" y="4645152"/>
            <a:ext cx="420624" cy="420624"/>
          </a:xfrm>
          <a:prstGeom prst="rect">
            <a:avLst/>
          </a:prstGeom>
        </p:spPr>
      </p:pic>
      <p:sp>
        <p:nvSpPr>
          <p:cNvPr id="79" name="Text 66"/>
          <p:cNvSpPr/>
          <p:nvPr/>
        </p:nvSpPr>
        <p:spPr>
          <a:xfrm>
            <a:off x="3209544" y="5212080"/>
            <a:ext cx="9144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7F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多赛段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7F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连续切换</a:t>
            </a:r>
            <a:endParaRPr lang="en-US" sz="1050" dirty="0"/>
          </a:p>
        </p:txBody>
      </p:sp>
      <p:sp>
        <p:nvSpPr>
          <p:cNvPr id="80" name="Shape 67"/>
          <p:cNvSpPr/>
          <p:nvPr/>
        </p:nvSpPr>
        <p:spPr>
          <a:xfrm>
            <a:off x="8833104" y="4480560"/>
            <a:ext cx="1069848" cy="1234440"/>
          </a:xfrm>
          <a:prstGeom prst="roundRect">
            <a:avLst/>
          </a:prstGeom>
          <a:solidFill>
            <a:srgbClr val="0A2746"/>
          </a:solidFill>
          <a:ln w="9525">
            <a:solidFill>
              <a:srgbClr val="FF9B28"/>
            </a:solidFill>
            <a:prstDash val="solid"/>
          </a:ln>
        </p:spPr>
      </p:sp>
      <p:pic>
        <p:nvPicPr>
          <p:cNvPr id="81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9153144" y="4645152"/>
            <a:ext cx="420624" cy="420624"/>
          </a:xfrm>
          <a:prstGeom prst="rect">
            <a:avLst/>
          </a:prstGeom>
        </p:spPr>
      </p:pic>
      <p:sp>
        <p:nvSpPr>
          <p:cNvPr id="82" name="Text 68"/>
          <p:cNvSpPr/>
          <p:nvPr/>
        </p:nvSpPr>
        <p:spPr>
          <a:xfrm>
            <a:off x="8906256" y="5212080"/>
            <a:ext cx="914400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7F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策略：不同赛段的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7F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任务编排</a:t>
            </a:r>
            <a:endParaRPr lang="en-US" sz="950" dirty="0"/>
          </a:p>
        </p:txBody>
      </p:sp>
      <p:sp>
        <p:nvSpPr>
          <p:cNvPr id="83" name="Shape 69"/>
          <p:cNvSpPr/>
          <p:nvPr/>
        </p:nvSpPr>
        <p:spPr>
          <a:xfrm>
            <a:off x="4370832" y="4480560"/>
            <a:ext cx="1069848" cy="1234440"/>
          </a:xfrm>
          <a:prstGeom prst="roundRect">
            <a:avLst/>
          </a:prstGeom>
          <a:solidFill>
            <a:srgbClr val="0A2746"/>
          </a:solidFill>
          <a:ln w="9525">
            <a:solidFill>
              <a:srgbClr val="2EA7FF"/>
            </a:solidFill>
            <a:prstDash val="solid"/>
          </a:ln>
        </p:spPr>
      </p:sp>
      <p:pic>
        <p:nvPicPr>
          <p:cNvPr id="84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4690872" y="4645152"/>
            <a:ext cx="420624" cy="420624"/>
          </a:xfrm>
          <a:prstGeom prst="rect">
            <a:avLst/>
          </a:prstGeom>
        </p:spPr>
      </p:pic>
      <p:sp>
        <p:nvSpPr>
          <p:cNvPr id="85" name="Text 70"/>
          <p:cNvSpPr/>
          <p:nvPr/>
        </p:nvSpPr>
        <p:spPr>
          <a:xfrm>
            <a:off x="4443984" y="5212080"/>
            <a:ext cx="9144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7F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识别、通行与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7F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动作需协同</a:t>
            </a:r>
            <a:endParaRPr lang="en-US" sz="1050" dirty="0"/>
          </a:p>
        </p:txBody>
      </p:sp>
      <p:sp>
        <p:nvSpPr>
          <p:cNvPr id="86" name="Shape 71"/>
          <p:cNvSpPr/>
          <p:nvPr/>
        </p:nvSpPr>
        <p:spPr>
          <a:xfrm>
            <a:off x="10058400" y="4480560"/>
            <a:ext cx="1069848" cy="1234440"/>
          </a:xfrm>
          <a:prstGeom prst="roundRect">
            <a:avLst/>
          </a:prstGeom>
          <a:solidFill>
            <a:srgbClr val="0A2746"/>
          </a:solidFill>
          <a:ln w="9525">
            <a:solidFill>
              <a:srgbClr val="FF9B28"/>
            </a:solidFill>
            <a:prstDash val="solid"/>
          </a:ln>
        </p:spPr>
      </p:sp>
      <p:pic>
        <p:nvPicPr>
          <p:cNvPr id="87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0378440" y="4645152"/>
            <a:ext cx="420624" cy="420624"/>
          </a:xfrm>
          <a:prstGeom prst="rect">
            <a:avLst/>
          </a:prstGeom>
        </p:spPr>
      </p:pic>
      <p:sp>
        <p:nvSpPr>
          <p:cNvPr id="88" name="Text 72"/>
          <p:cNvSpPr/>
          <p:nvPr/>
        </p:nvSpPr>
        <p:spPr>
          <a:xfrm>
            <a:off x="10131552" y="5212080"/>
            <a:ext cx="914400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7F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鲁棒性：无人干预下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7F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持续运行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15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528"/>
          </a:solidFill>
          <a:ln w="12700">
            <a:solidFill>
              <a:srgbClr val="0615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" y="6565392"/>
            <a:ext cx="11292840" cy="0"/>
          </a:xfrm>
          <a:prstGeom prst="line">
            <a:avLst/>
          </a:prstGeom>
          <a:noFill/>
          <a:ln w="8890">
            <a:solidFill>
              <a:srgbClr val="2EA7FF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9768" y="6501384"/>
            <a:ext cx="128016" cy="128016"/>
          </a:xfrm>
          <a:prstGeom prst="ellipse">
            <a:avLst/>
          </a:prstGeom>
          <a:solidFill>
            <a:srgbClr val="061528">
              <a:alpha val="0"/>
            </a:srgbClr>
          </a:solidFill>
          <a:ln w="19050">
            <a:solidFill>
              <a:srgbClr val="2EA7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6519672"/>
            <a:ext cx="64008" cy="54864"/>
          </a:xfrm>
          <a:prstGeom prst="rect">
            <a:avLst/>
          </a:prstGeom>
          <a:solidFill>
            <a:srgbClr val="2EA7FF">
              <a:alpha val="70000"/>
            </a:srgbClr>
          </a:solidFill>
          <a:ln w="12700">
            <a:solidFill>
              <a:srgbClr val="2EA7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" y="6519672"/>
            <a:ext cx="64008" cy="54864"/>
          </a:xfrm>
          <a:prstGeom prst="rect">
            <a:avLst/>
          </a:prstGeom>
          <a:solidFill>
            <a:srgbClr val="2EA7FF">
              <a:alpha val="70000"/>
            </a:srgbClr>
          </a:solidFill>
          <a:ln w="12700">
            <a:solidFill>
              <a:srgbClr val="2EA7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9264" y="6519672"/>
            <a:ext cx="64008" cy="54864"/>
          </a:xfrm>
          <a:prstGeom prst="rect">
            <a:avLst/>
          </a:prstGeom>
          <a:solidFill>
            <a:srgbClr val="2EA7FF">
              <a:alpha val="70000"/>
            </a:srgbClr>
          </a:solidFill>
          <a:ln w="12700">
            <a:solidFill>
              <a:srgbClr val="2EA7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0704" y="6519672"/>
            <a:ext cx="64008" cy="54864"/>
          </a:xfrm>
          <a:prstGeom prst="rect">
            <a:avLst/>
          </a:prstGeom>
          <a:solidFill>
            <a:srgbClr val="2EA7FF">
              <a:alpha val="70000"/>
            </a:srgbClr>
          </a:solidFill>
          <a:ln w="12700">
            <a:solidFill>
              <a:srgbClr val="2EA7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80192" y="6519672"/>
            <a:ext cx="82296" cy="54864"/>
          </a:xfrm>
          <a:prstGeom prst="rect">
            <a:avLst/>
          </a:prstGeom>
          <a:solidFill>
            <a:srgbClr val="2EA7FF">
              <a:alpha val="65000"/>
            </a:srgbClr>
          </a:solidFill>
          <a:ln w="12700">
            <a:solidFill>
              <a:srgbClr val="2EA7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789920" y="6519672"/>
            <a:ext cx="82296" cy="54864"/>
          </a:xfrm>
          <a:prstGeom prst="rect">
            <a:avLst/>
          </a:prstGeom>
          <a:solidFill>
            <a:srgbClr val="2EA7FF">
              <a:alpha val="65000"/>
            </a:srgbClr>
          </a:solidFill>
          <a:ln w="12700">
            <a:solidFill>
              <a:srgbClr val="2EA7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899648" y="6519672"/>
            <a:ext cx="82296" cy="54864"/>
          </a:xfrm>
          <a:prstGeom prst="rect">
            <a:avLst/>
          </a:prstGeom>
          <a:solidFill>
            <a:srgbClr val="2EA7FF">
              <a:alpha val="65000"/>
            </a:srgbClr>
          </a:solidFill>
          <a:ln w="12700">
            <a:solidFill>
              <a:srgbClr val="2EA7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09376" y="6519672"/>
            <a:ext cx="82296" cy="54864"/>
          </a:xfrm>
          <a:prstGeom prst="rect">
            <a:avLst/>
          </a:prstGeom>
          <a:solidFill>
            <a:srgbClr val="2EA7FF">
              <a:alpha val="65000"/>
            </a:srgbClr>
          </a:solidFill>
          <a:ln w="12700">
            <a:solidFill>
              <a:srgbClr val="2EA7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19104" y="6519672"/>
            <a:ext cx="82296" cy="54864"/>
          </a:xfrm>
          <a:prstGeom prst="rect">
            <a:avLst/>
          </a:prstGeom>
          <a:solidFill>
            <a:srgbClr val="2EA7FF">
              <a:alpha val="65000"/>
            </a:srgbClr>
          </a:solidFill>
          <a:ln w="12700">
            <a:solidFill>
              <a:srgbClr val="2EA7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58600" y="645566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9BCD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4360" y="65836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任务抽象：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24612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9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从赛道对象到自主控制状态量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594360" y="1417320"/>
            <a:ext cx="41148" cy="274320"/>
          </a:xfrm>
          <a:prstGeom prst="rect">
            <a:avLst/>
          </a:prstGeom>
          <a:solidFill>
            <a:srgbClr val="FF9B28"/>
          </a:solidFill>
          <a:ln w="12700">
            <a:solidFill>
              <a:srgbClr val="FF9B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" y="1380744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7F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系统设计的关键，是把赛道中的物理对象转化为可计算、可控制、可反馈的状态量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14400" y="1874520"/>
            <a:ext cx="2514600" cy="347472"/>
          </a:xfrm>
          <a:prstGeom prst="hexagon">
            <a:avLst/>
          </a:prstGeom>
          <a:solidFill>
            <a:srgbClr val="061528">
              <a:alpha val="88000"/>
            </a:srgbClr>
          </a:solidFill>
          <a:ln w="11430">
            <a:solidFill>
              <a:srgbClr val="FF9B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193852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9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赛道元素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63440" y="1874520"/>
            <a:ext cx="2514600" cy="347472"/>
          </a:xfrm>
          <a:prstGeom prst="hexagon">
            <a:avLst/>
          </a:prstGeom>
          <a:solidFill>
            <a:srgbClr val="061528">
              <a:alpha val="88000"/>
            </a:srgbClr>
          </a:solidFill>
          <a:ln w="11430">
            <a:solidFill>
              <a:srgbClr val="32C7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193852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2C7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感知状态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503920" y="1874520"/>
            <a:ext cx="2514600" cy="347472"/>
          </a:xfrm>
          <a:prstGeom prst="hexagon">
            <a:avLst/>
          </a:prstGeom>
          <a:solidFill>
            <a:srgbClr val="061528">
              <a:alpha val="88000"/>
            </a:srgbClr>
          </a:solidFill>
          <a:ln w="11430">
            <a:solidFill>
              <a:srgbClr val="FFD5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0" y="193852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5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控制输出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77240" y="2395728"/>
            <a:ext cx="2971800" cy="475488"/>
          </a:xfrm>
          <a:prstGeom prst="roundRect">
            <a:avLst/>
          </a:prstGeom>
          <a:solidFill>
            <a:srgbClr val="0A2746">
              <a:alpha val="92000"/>
            </a:srgbClr>
          </a:solidFill>
          <a:ln w="10160">
            <a:solidFill>
              <a:srgbClr val="FF9B28">
                <a:alpha val="90000"/>
              </a:srgbClr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1832" y="2505456"/>
            <a:ext cx="292608" cy="292608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344168" y="2560320"/>
            <a:ext cx="228600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7F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黄色边线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526280" y="2395728"/>
            <a:ext cx="2971800" cy="475488"/>
          </a:xfrm>
          <a:prstGeom prst="roundRect">
            <a:avLst/>
          </a:prstGeom>
          <a:solidFill>
            <a:srgbClr val="0A2746">
              <a:alpha val="92000"/>
            </a:srgbClr>
          </a:solidFill>
          <a:ln w="10160">
            <a:solidFill>
              <a:srgbClr val="32C7FF">
                <a:alpha val="90000"/>
              </a:srgbClr>
            </a:solidFill>
            <a:prstDash val="solid"/>
          </a:ln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0872" y="2505456"/>
            <a:ext cx="292608" cy="292608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5093208" y="2560320"/>
            <a:ext cx="228600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7F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边线检测 / gap偏差</a:t>
            </a:r>
            <a:endParaRPr lang="en-US" sz="1250" dirty="0"/>
          </a:p>
        </p:txBody>
      </p:sp>
      <p:sp>
        <p:nvSpPr>
          <p:cNvPr id="31" name="Shape 27"/>
          <p:cNvSpPr/>
          <p:nvPr/>
        </p:nvSpPr>
        <p:spPr>
          <a:xfrm>
            <a:off x="8366760" y="2395728"/>
            <a:ext cx="2971800" cy="475488"/>
          </a:xfrm>
          <a:prstGeom prst="roundRect">
            <a:avLst/>
          </a:prstGeom>
          <a:solidFill>
            <a:srgbClr val="0A2746">
              <a:alpha val="92000"/>
            </a:srgbClr>
          </a:solidFill>
          <a:ln w="10160">
            <a:solidFill>
              <a:srgbClr val="FFD54A">
                <a:alpha val="90000"/>
              </a:srgbClr>
            </a:solidFill>
            <a:prstDash val="solid"/>
          </a:ln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31352" y="2505456"/>
            <a:ext cx="292608" cy="292608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8933688" y="2560320"/>
            <a:ext cx="228600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7F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PID纠偏 / vyaw</a:t>
            </a:r>
            <a:endParaRPr lang="en-US" sz="1250" dirty="0"/>
          </a:p>
        </p:txBody>
      </p:sp>
      <p:sp>
        <p:nvSpPr>
          <p:cNvPr id="34" name="Shape 29"/>
          <p:cNvSpPr/>
          <p:nvPr/>
        </p:nvSpPr>
        <p:spPr>
          <a:xfrm>
            <a:off x="3813048" y="2633472"/>
            <a:ext cx="512064" cy="0"/>
          </a:xfrm>
          <a:prstGeom prst="line">
            <a:avLst/>
          </a:prstGeom>
          <a:noFill/>
          <a:ln w="25400">
            <a:solidFill>
              <a:srgbClr val="FF9B28"/>
            </a:solidFill>
            <a:prstDash val="solid"/>
            <a:headEnd type="none"/>
            <a:tailEnd type="triangle"/>
          </a:ln>
        </p:spPr>
      </p:sp>
      <p:sp>
        <p:nvSpPr>
          <p:cNvPr id="35" name="Shape 30"/>
          <p:cNvSpPr/>
          <p:nvPr/>
        </p:nvSpPr>
        <p:spPr>
          <a:xfrm>
            <a:off x="7562088" y="2633472"/>
            <a:ext cx="512064" cy="0"/>
          </a:xfrm>
          <a:prstGeom prst="line">
            <a:avLst/>
          </a:prstGeom>
          <a:noFill/>
          <a:ln w="25400">
            <a:solidFill>
              <a:srgbClr val="2EA7FF"/>
            </a:solidFill>
            <a:prstDash val="solid"/>
            <a:headEnd type="none"/>
            <a:tailEnd type="triangle"/>
          </a:ln>
        </p:spPr>
      </p:sp>
      <p:sp>
        <p:nvSpPr>
          <p:cNvPr id="36" name="Shape 31"/>
          <p:cNvSpPr/>
          <p:nvPr/>
        </p:nvSpPr>
        <p:spPr>
          <a:xfrm>
            <a:off x="777240" y="3017520"/>
            <a:ext cx="2971800" cy="475488"/>
          </a:xfrm>
          <a:prstGeom prst="roundRect">
            <a:avLst/>
          </a:prstGeom>
          <a:solidFill>
            <a:srgbClr val="0A2746">
              <a:alpha val="92000"/>
            </a:srgbClr>
          </a:solidFill>
          <a:ln w="10160">
            <a:solidFill>
              <a:srgbClr val="FF9B28">
                <a:alpha val="90000"/>
              </a:srgbClr>
            </a:solidFill>
            <a:prstDash val="solid"/>
          </a:ln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1832" y="3127248"/>
            <a:ext cx="292608" cy="292608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1344168" y="3182112"/>
            <a:ext cx="228600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7F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橙色小球</a:t>
            </a:r>
            <a:endParaRPr lang="en-US" sz="1300" dirty="0"/>
          </a:p>
        </p:txBody>
      </p:sp>
      <p:sp>
        <p:nvSpPr>
          <p:cNvPr id="39" name="Shape 33"/>
          <p:cNvSpPr/>
          <p:nvPr/>
        </p:nvSpPr>
        <p:spPr>
          <a:xfrm>
            <a:off x="4526280" y="3017520"/>
            <a:ext cx="2971800" cy="475488"/>
          </a:xfrm>
          <a:prstGeom prst="roundRect">
            <a:avLst/>
          </a:prstGeom>
          <a:solidFill>
            <a:srgbClr val="0A2746">
              <a:alpha val="92000"/>
            </a:srgbClr>
          </a:solidFill>
          <a:ln w="10160">
            <a:solidFill>
              <a:srgbClr val="32C7FF">
                <a:alpha val="90000"/>
              </a:srgbClr>
            </a:solidFill>
            <a:prstDash val="solid"/>
          </a:ln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90872" y="3127248"/>
            <a:ext cx="292608" cy="292608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5093208" y="3182112"/>
            <a:ext cx="228600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7F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HSV掩膜 / ratio占比</a:t>
            </a:r>
            <a:endParaRPr lang="en-US" sz="1250" dirty="0"/>
          </a:p>
        </p:txBody>
      </p:sp>
      <p:sp>
        <p:nvSpPr>
          <p:cNvPr id="42" name="Shape 35"/>
          <p:cNvSpPr/>
          <p:nvPr/>
        </p:nvSpPr>
        <p:spPr>
          <a:xfrm>
            <a:off x="8366760" y="3017520"/>
            <a:ext cx="2971800" cy="475488"/>
          </a:xfrm>
          <a:prstGeom prst="roundRect">
            <a:avLst/>
          </a:prstGeom>
          <a:solidFill>
            <a:srgbClr val="0A2746">
              <a:alpha val="92000"/>
            </a:srgbClr>
          </a:solidFill>
          <a:ln w="10160">
            <a:solidFill>
              <a:srgbClr val="FFD54A">
                <a:alpha val="90000"/>
              </a:srgbClr>
            </a:solidFill>
            <a:prstDash val="solid"/>
          </a:ln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531352" y="3127248"/>
            <a:ext cx="292608" cy="292608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8933688" y="3182112"/>
            <a:ext cx="228600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7F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撞击触发 / hit动作</a:t>
            </a:r>
            <a:endParaRPr lang="en-US" sz="1250" dirty="0"/>
          </a:p>
        </p:txBody>
      </p:sp>
      <p:sp>
        <p:nvSpPr>
          <p:cNvPr id="45" name="Shape 37"/>
          <p:cNvSpPr/>
          <p:nvPr/>
        </p:nvSpPr>
        <p:spPr>
          <a:xfrm>
            <a:off x="3813048" y="3255264"/>
            <a:ext cx="512064" cy="0"/>
          </a:xfrm>
          <a:prstGeom prst="line">
            <a:avLst/>
          </a:prstGeom>
          <a:noFill/>
          <a:ln w="25400">
            <a:solidFill>
              <a:srgbClr val="FF9B28"/>
            </a:solidFill>
            <a:prstDash val="solid"/>
            <a:headEnd type="none"/>
            <a:tailEnd type="triangle"/>
          </a:ln>
        </p:spPr>
      </p:sp>
      <p:sp>
        <p:nvSpPr>
          <p:cNvPr id="46" name="Shape 38"/>
          <p:cNvSpPr/>
          <p:nvPr/>
        </p:nvSpPr>
        <p:spPr>
          <a:xfrm>
            <a:off x="7562088" y="3255264"/>
            <a:ext cx="512064" cy="0"/>
          </a:xfrm>
          <a:prstGeom prst="line">
            <a:avLst/>
          </a:prstGeom>
          <a:noFill/>
          <a:ln w="25400">
            <a:solidFill>
              <a:srgbClr val="2EA7FF"/>
            </a:solidFill>
            <a:prstDash val="solid"/>
            <a:headEnd type="none"/>
            <a:tailEnd type="triangle"/>
          </a:ln>
        </p:spPr>
      </p:sp>
      <p:sp>
        <p:nvSpPr>
          <p:cNvPr id="47" name="Shape 39"/>
          <p:cNvSpPr/>
          <p:nvPr/>
        </p:nvSpPr>
        <p:spPr>
          <a:xfrm>
            <a:off x="777240" y="3639312"/>
            <a:ext cx="2971800" cy="475488"/>
          </a:xfrm>
          <a:prstGeom prst="roundRect">
            <a:avLst/>
          </a:prstGeom>
          <a:solidFill>
            <a:srgbClr val="0A2746">
              <a:alpha val="92000"/>
            </a:srgbClr>
          </a:solidFill>
          <a:ln w="10160">
            <a:solidFill>
              <a:srgbClr val="FF9B28">
                <a:alpha val="90000"/>
              </a:srgbClr>
            </a:solidFill>
            <a:prstDash val="solid"/>
          </a:ln>
        </p:spPr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41832" y="3749040"/>
            <a:ext cx="292608" cy="292608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1344168" y="3803904"/>
            <a:ext cx="228600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7F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曲道 / 直道</a:t>
            </a:r>
            <a:endParaRPr lang="en-US" sz="1300" dirty="0"/>
          </a:p>
        </p:txBody>
      </p:sp>
      <p:sp>
        <p:nvSpPr>
          <p:cNvPr id="50" name="Shape 41"/>
          <p:cNvSpPr/>
          <p:nvPr/>
        </p:nvSpPr>
        <p:spPr>
          <a:xfrm>
            <a:off x="4526280" y="3639312"/>
            <a:ext cx="2971800" cy="475488"/>
          </a:xfrm>
          <a:prstGeom prst="roundRect">
            <a:avLst/>
          </a:prstGeom>
          <a:solidFill>
            <a:srgbClr val="0A2746">
              <a:alpha val="92000"/>
            </a:srgbClr>
          </a:solidFill>
          <a:ln w="10160">
            <a:solidFill>
              <a:srgbClr val="32C7FF">
                <a:alpha val="90000"/>
              </a:srgbClr>
            </a:solidFill>
            <a:prstDash val="solid"/>
          </a:ln>
        </p:spPr>
      </p:sp>
      <p:pic>
        <p:nvPicPr>
          <p:cNvPr id="51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690872" y="3749040"/>
            <a:ext cx="292608" cy="292608"/>
          </a:xfrm>
          <a:prstGeom prst="rect">
            <a:avLst/>
          </a:prstGeom>
        </p:spPr>
      </p:pic>
      <p:sp>
        <p:nvSpPr>
          <p:cNvPr id="52" name="Text 42"/>
          <p:cNvSpPr/>
          <p:nvPr/>
        </p:nvSpPr>
        <p:spPr>
          <a:xfrm>
            <a:off x="5093208" y="3803904"/>
            <a:ext cx="228600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7F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地面相机 / 路径偏差</a:t>
            </a:r>
            <a:endParaRPr lang="en-US" sz="1250" dirty="0"/>
          </a:p>
        </p:txBody>
      </p:sp>
      <p:sp>
        <p:nvSpPr>
          <p:cNvPr id="53" name="Shape 43"/>
          <p:cNvSpPr/>
          <p:nvPr/>
        </p:nvSpPr>
        <p:spPr>
          <a:xfrm>
            <a:off x="8366760" y="3639312"/>
            <a:ext cx="2971800" cy="475488"/>
          </a:xfrm>
          <a:prstGeom prst="roundRect">
            <a:avLst/>
          </a:prstGeom>
          <a:solidFill>
            <a:srgbClr val="0A2746">
              <a:alpha val="92000"/>
            </a:srgbClr>
          </a:solidFill>
          <a:ln w="10160">
            <a:solidFill>
              <a:srgbClr val="FFD54A">
                <a:alpha val="90000"/>
              </a:srgbClr>
            </a:solidFill>
            <a:prstDash val="solid"/>
          </a:ln>
        </p:spPr>
      </p:sp>
      <p:pic>
        <p:nvPicPr>
          <p:cNvPr id="54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531352" y="3749040"/>
            <a:ext cx="292608" cy="292608"/>
          </a:xfrm>
          <a:prstGeom prst="rect">
            <a:avLst/>
          </a:prstGeom>
        </p:spPr>
      </p:pic>
      <p:sp>
        <p:nvSpPr>
          <p:cNvPr id="55" name="Text 44"/>
          <p:cNvSpPr/>
          <p:nvPr/>
        </p:nvSpPr>
        <p:spPr>
          <a:xfrm>
            <a:off x="8933688" y="3803904"/>
            <a:ext cx="228600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7F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直道修正 / vx + vyaw</a:t>
            </a:r>
            <a:endParaRPr lang="en-US" sz="1250" dirty="0"/>
          </a:p>
        </p:txBody>
      </p:sp>
      <p:sp>
        <p:nvSpPr>
          <p:cNvPr id="56" name="Shape 45"/>
          <p:cNvSpPr/>
          <p:nvPr/>
        </p:nvSpPr>
        <p:spPr>
          <a:xfrm>
            <a:off x="3813048" y="3877056"/>
            <a:ext cx="512064" cy="0"/>
          </a:xfrm>
          <a:prstGeom prst="line">
            <a:avLst/>
          </a:prstGeom>
          <a:noFill/>
          <a:ln w="25400">
            <a:solidFill>
              <a:srgbClr val="FF9B28"/>
            </a:solidFill>
            <a:prstDash val="solid"/>
            <a:headEnd type="none"/>
            <a:tailEnd type="triangle"/>
          </a:ln>
        </p:spPr>
      </p:sp>
      <p:sp>
        <p:nvSpPr>
          <p:cNvPr id="57" name="Shape 46"/>
          <p:cNvSpPr/>
          <p:nvPr/>
        </p:nvSpPr>
        <p:spPr>
          <a:xfrm>
            <a:off x="7562088" y="3877056"/>
            <a:ext cx="512064" cy="0"/>
          </a:xfrm>
          <a:prstGeom prst="line">
            <a:avLst/>
          </a:prstGeom>
          <a:noFill/>
          <a:ln w="25400">
            <a:solidFill>
              <a:srgbClr val="2EA7FF"/>
            </a:solidFill>
            <a:prstDash val="solid"/>
            <a:headEnd type="none"/>
            <a:tailEnd type="triangle"/>
          </a:ln>
        </p:spPr>
      </p:sp>
      <p:sp>
        <p:nvSpPr>
          <p:cNvPr id="58" name="Shape 47"/>
          <p:cNvSpPr/>
          <p:nvPr/>
        </p:nvSpPr>
        <p:spPr>
          <a:xfrm>
            <a:off x="777240" y="4261104"/>
            <a:ext cx="2971800" cy="475488"/>
          </a:xfrm>
          <a:prstGeom prst="roundRect">
            <a:avLst/>
          </a:prstGeom>
          <a:solidFill>
            <a:srgbClr val="0A2746">
              <a:alpha val="92000"/>
            </a:srgbClr>
          </a:solidFill>
          <a:ln w="10160">
            <a:solidFill>
              <a:srgbClr val="FF9B28">
                <a:alpha val="90000"/>
              </a:srgbClr>
            </a:solidFill>
            <a:prstDash val="solid"/>
          </a:ln>
        </p:spPr>
      </p:sp>
      <p:pic>
        <p:nvPicPr>
          <p:cNvPr id="59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41832" y="4370832"/>
            <a:ext cx="292608" cy="292608"/>
          </a:xfrm>
          <a:prstGeom prst="rect">
            <a:avLst/>
          </a:prstGeom>
        </p:spPr>
      </p:pic>
      <p:sp>
        <p:nvSpPr>
          <p:cNvPr id="60" name="Text 48"/>
          <p:cNvSpPr/>
          <p:nvPr/>
        </p:nvSpPr>
        <p:spPr>
          <a:xfrm>
            <a:off x="1344168" y="4425696"/>
            <a:ext cx="228600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7F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限高通道</a:t>
            </a:r>
            <a:endParaRPr lang="en-US" sz="1300" dirty="0"/>
          </a:p>
        </p:txBody>
      </p:sp>
      <p:sp>
        <p:nvSpPr>
          <p:cNvPr id="61" name="Shape 49"/>
          <p:cNvSpPr/>
          <p:nvPr/>
        </p:nvSpPr>
        <p:spPr>
          <a:xfrm>
            <a:off x="4526280" y="4261104"/>
            <a:ext cx="2971800" cy="475488"/>
          </a:xfrm>
          <a:prstGeom prst="roundRect">
            <a:avLst/>
          </a:prstGeom>
          <a:solidFill>
            <a:srgbClr val="0A2746">
              <a:alpha val="92000"/>
            </a:srgbClr>
          </a:solidFill>
          <a:ln w="10160">
            <a:solidFill>
              <a:srgbClr val="32C7FF">
                <a:alpha val="90000"/>
              </a:srgbClr>
            </a:solidFill>
            <a:prstDash val="solid"/>
          </a:ln>
        </p:spPr>
      </p:sp>
      <p:pic>
        <p:nvPicPr>
          <p:cNvPr id="62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4690872" y="4370832"/>
            <a:ext cx="292608" cy="292608"/>
          </a:xfrm>
          <a:prstGeom prst="rect">
            <a:avLst/>
          </a:prstGeom>
        </p:spPr>
      </p:pic>
      <p:sp>
        <p:nvSpPr>
          <p:cNvPr id="63" name="Text 50"/>
          <p:cNvSpPr/>
          <p:nvPr/>
        </p:nvSpPr>
        <p:spPr>
          <a:xfrm>
            <a:off x="5093208" y="4425696"/>
            <a:ext cx="228600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7F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低姿态通过条件</a:t>
            </a:r>
            <a:endParaRPr lang="en-US" sz="1250" dirty="0"/>
          </a:p>
        </p:txBody>
      </p:sp>
      <p:sp>
        <p:nvSpPr>
          <p:cNvPr id="64" name="Shape 51"/>
          <p:cNvSpPr/>
          <p:nvPr/>
        </p:nvSpPr>
        <p:spPr>
          <a:xfrm>
            <a:off x="8366760" y="4261104"/>
            <a:ext cx="2971800" cy="475488"/>
          </a:xfrm>
          <a:prstGeom prst="roundRect">
            <a:avLst/>
          </a:prstGeom>
          <a:solidFill>
            <a:srgbClr val="0A2746">
              <a:alpha val="92000"/>
            </a:srgbClr>
          </a:solidFill>
          <a:ln w="10160">
            <a:solidFill>
              <a:srgbClr val="FFD54A">
                <a:alpha val="90000"/>
              </a:srgbClr>
            </a:solidFill>
            <a:prstDash val="solid"/>
          </a:ln>
        </p:spPr>
      </p:sp>
      <p:pic>
        <p:nvPicPr>
          <p:cNvPr id="65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531352" y="4370832"/>
            <a:ext cx="292608" cy="292608"/>
          </a:xfrm>
          <a:prstGeom prst="rect">
            <a:avLst/>
          </a:prstGeom>
        </p:spPr>
      </p:pic>
      <p:sp>
        <p:nvSpPr>
          <p:cNvPr id="66" name="Text 52"/>
          <p:cNvSpPr/>
          <p:nvPr/>
        </p:nvSpPr>
        <p:spPr>
          <a:xfrm>
            <a:off x="8933688" y="4425696"/>
            <a:ext cx="228600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7F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自定义低重心步态</a:t>
            </a:r>
            <a:endParaRPr lang="en-US" sz="1250" dirty="0"/>
          </a:p>
        </p:txBody>
      </p:sp>
      <p:sp>
        <p:nvSpPr>
          <p:cNvPr id="67" name="Shape 53"/>
          <p:cNvSpPr/>
          <p:nvPr/>
        </p:nvSpPr>
        <p:spPr>
          <a:xfrm>
            <a:off x="3813048" y="4498848"/>
            <a:ext cx="512064" cy="0"/>
          </a:xfrm>
          <a:prstGeom prst="line">
            <a:avLst/>
          </a:prstGeom>
          <a:noFill/>
          <a:ln w="25400">
            <a:solidFill>
              <a:srgbClr val="FF9B28"/>
            </a:solidFill>
            <a:prstDash val="solid"/>
            <a:headEnd type="none"/>
            <a:tailEnd type="triangle"/>
          </a:ln>
        </p:spPr>
      </p:sp>
      <p:sp>
        <p:nvSpPr>
          <p:cNvPr id="68" name="Shape 54"/>
          <p:cNvSpPr/>
          <p:nvPr/>
        </p:nvSpPr>
        <p:spPr>
          <a:xfrm>
            <a:off x="7562088" y="4498848"/>
            <a:ext cx="512064" cy="0"/>
          </a:xfrm>
          <a:prstGeom prst="line">
            <a:avLst/>
          </a:prstGeom>
          <a:noFill/>
          <a:ln w="25400">
            <a:solidFill>
              <a:srgbClr val="2EA7FF"/>
            </a:solidFill>
            <a:prstDash val="solid"/>
            <a:headEnd type="none"/>
            <a:tailEnd type="triangle"/>
          </a:ln>
        </p:spPr>
      </p:sp>
      <p:sp>
        <p:nvSpPr>
          <p:cNvPr id="69" name="Shape 55"/>
          <p:cNvSpPr/>
          <p:nvPr/>
        </p:nvSpPr>
        <p:spPr>
          <a:xfrm>
            <a:off x="777240" y="4882896"/>
            <a:ext cx="2971800" cy="475488"/>
          </a:xfrm>
          <a:prstGeom prst="roundRect">
            <a:avLst/>
          </a:prstGeom>
          <a:solidFill>
            <a:srgbClr val="0A2746">
              <a:alpha val="92000"/>
            </a:srgbClr>
          </a:solidFill>
          <a:ln w="10160">
            <a:solidFill>
              <a:srgbClr val="FF9B28">
                <a:alpha val="90000"/>
              </a:srgbClr>
            </a:solidFill>
            <a:prstDash val="solid"/>
          </a:ln>
        </p:spPr>
      </p:sp>
      <p:pic>
        <p:nvPicPr>
          <p:cNvPr id="70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941832" y="4992624"/>
            <a:ext cx="292608" cy="292608"/>
          </a:xfrm>
          <a:prstGeom prst="rect">
            <a:avLst/>
          </a:prstGeom>
        </p:spPr>
      </p:pic>
      <p:sp>
        <p:nvSpPr>
          <p:cNvPr id="71" name="Text 56"/>
          <p:cNvSpPr/>
          <p:nvPr/>
        </p:nvSpPr>
        <p:spPr>
          <a:xfrm>
            <a:off x="1344168" y="5047488"/>
            <a:ext cx="228600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7F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全程自主要求</a:t>
            </a:r>
            <a:endParaRPr lang="en-US" sz="1300" dirty="0"/>
          </a:p>
        </p:txBody>
      </p:sp>
      <p:sp>
        <p:nvSpPr>
          <p:cNvPr id="72" name="Shape 57"/>
          <p:cNvSpPr/>
          <p:nvPr/>
        </p:nvSpPr>
        <p:spPr>
          <a:xfrm>
            <a:off x="4526280" y="4882896"/>
            <a:ext cx="2971800" cy="475488"/>
          </a:xfrm>
          <a:prstGeom prst="roundRect">
            <a:avLst/>
          </a:prstGeom>
          <a:solidFill>
            <a:srgbClr val="0A2746">
              <a:alpha val="92000"/>
            </a:srgbClr>
          </a:solidFill>
          <a:ln w="10160">
            <a:solidFill>
              <a:srgbClr val="32C7FF">
                <a:alpha val="90000"/>
              </a:srgbClr>
            </a:solidFill>
            <a:prstDash val="solid"/>
          </a:ln>
        </p:spPr>
      </p:sp>
      <p:pic>
        <p:nvPicPr>
          <p:cNvPr id="73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4690872" y="4992624"/>
            <a:ext cx="292608" cy="292608"/>
          </a:xfrm>
          <a:prstGeom prst="rect">
            <a:avLst/>
          </a:prstGeom>
        </p:spPr>
      </p:pic>
      <p:sp>
        <p:nvSpPr>
          <p:cNvPr id="74" name="Text 58"/>
          <p:cNvSpPr/>
          <p:nvPr/>
        </p:nvSpPr>
        <p:spPr>
          <a:xfrm>
            <a:off x="5093208" y="5047488"/>
            <a:ext cx="228600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7F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状态机输入事件</a:t>
            </a:r>
            <a:endParaRPr lang="en-US" sz="1250" dirty="0"/>
          </a:p>
        </p:txBody>
      </p:sp>
      <p:sp>
        <p:nvSpPr>
          <p:cNvPr id="75" name="Shape 59"/>
          <p:cNvSpPr/>
          <p:nvPr/>
        </p:nvSpPr>
        <p:spPr>
          <a:xfrm>
            <a:off x="8366760" y="4882896"/>
            <a:ext cx="2971800" cy="475488"/>
          </a:xfrm>
          <a:prstGeom prst="roundRect">
            <a:avLst/>
          </a:prstGeom>
          <a:solidFill>
            <a:srgbClr val="0A2746">
              <a:alpha val="92000"/>
            </a:srgbClr>
          </a:solidFill>
          <a:ln w="10160">
            <a:solidFill>
              <a:srgbClr val="FFD54A">
                <a:alpha val="90000"/>
              </a:srgbClr>
            </a:solidFill>
            <a:prstDash val="solid"/>
          </a:ln>
        </p:spPr>
      </p:sp>
      <p:pic>
        <p:nvPicPr>
          <p:cNvPr id="76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8531352" y="4992624"/>
            <a:ext cx="292608" cy="292608"/>
          </a:xfrm>
          <a:prstGeom prst="rect">
            <a:avLst/>
          </a:prstGeom>
        </p:spPr>
      </p:pic>
      <p:sp>
        <p:nvSpPr>
          <p:cNvPr id="77" name="Text 60"/>
          <p:cNvSpPr/>
          <p:nvPr/>
        </p:nvSpPr>
        <p:spPr>
          <a:xfrm>
            <a:off x="8933688" y="5047488"/>
            <a:ext cx="228600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7F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主控决策与反馈闭环</a:t>
            </a:r>
            <a:endParaRPr lang="en-US" sz="1250" dirty="0"/>
          </a:p>
        </p:txBody>
      </p:sp>
      <p:sp>
        <p:nvSpPr>
          <p:cNvPr id="78" name="Shape 61"/>
          <p:cNvSpPr/>
          <p:nvPr/>
        </p:nvSpPr>
        <p:spPr>
          <a:xfrm>
            <a:off x="3813048" y="5120640"/>
            <a:ext cx="512064" cy="0"/>
          </a:xfrm>
          <a:prstGeom prst="line">
            <a:avLst/>
          </a:prstGeom>
          <a:noFill/>
          <a:ln w="25400">
            <a:solidFill>
              <a:srgbClr val="FF9B28"/>
            </a:solidFill>
            <a:prstDash val="solid"/>
            <a:headEnd type="none"/>
            <a:tailEnd type="triangle"/>
          </a:ln>
        </p:spPr>
      </p:sp>
      <p:sp>
        <p:nvSpPr>
          <p:cNvPr id="79" name="Shape 62"/>
          <p:cNvSpPr/>
          <p:nvPr/>
        </p:nvSpPr>
        <p:spPr>
          <a:xfrm>
            <a:off x="7562088" y="5120640"/>
            <a:ext cx="512064" cy="0"/>
          </a:xfrm>
          <a:prstGeom prst="line">
            <a:avLst/>
          </a:prstGeom>
          <a:noFill/>
          <a:ln w="25400">
            <a:solidFill>
              <a:srgbClr val="2EA7FF"/>
            </a:solidFill>
            <a:prstDash val="solid"/>
            <a:headEnd type="none"/>
            <a:tailEnd type="triangle"/>
          </a:ln>
        </p:spPr>
      </p:sp>
      <p:sp>
        <p:nvSpPr>
          <p:cNvPr id="80" name="Shape 63"/>
          <p:cNvSpPr/>
          <p:nvPr/>
        </p:nvSpPr>
        <p:spPr>
          <a:xfrm>
            <a:off x="1645920" y="5687568"/>
            <a:ext cx="8915400" cy="475488"/>
          </a:xfrm>
          <a:prstGeom prst="roundRect">
            <a:avLst/>
          </a:prstGeom>
          <a:solidFill>
            <a:srgbClr val="061528">
              <a:alpha val="98000"/>
            </a:srgbClr>
          </a:solidFill>
          <a:ln w="11430">
            <a:solidFill>
              <a:srgbClr val="FFC247"/>
            </a:solidFill>
            <a:prstDash val="solid"/>
          </a:ln>
        </p:spPr>
      </p:sp>
      <p:pic>
        <p:nvPicPr>
          <p:cNvPr id="81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965960" y="5760720"/>
            <a:ext cx="329184" cy="329184"/>
          </a:xfrm>
          <a:prstGeom prst="rect">
            <a:avLst/>
          </a:prstGeom>
        </p:spPr>
      </p:pic>
      <p:sp>
        <p:nvSpPr>
          <p:cNvPr id="82" name="Text 64"/>
          <p:cNvSpPr/>
          <p:nvPr/>
        </p:nvSpPr>
        <p:spPr>
          <a:xfrm>
            <a:off x="2542032" y="5788152"/>
            <a:ext cx="7498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9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不是直接操作图像，而是把图像压缩成主控可消费的稳定状态量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15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528"/>
          </a:solidFill>
          <a:ln w="12700">
            <a:solidFill>
              <a:srgbClr val="0615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" y="6565392"/>
            <a:ext cx="11292840" cy="0"/>
          </a:xfrm>
          <a:prstGeom prst="line">
            <a:avLst/>
          </a:prstGeom>
          <a:noFill/>
          <a:ln w="8890">
            <a:solidFill>
              <a:srgbClr val="2EA7FF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9768" y="6501384"/>
            <a:ext cx="128016" cy="128016"/>
          </a:xfrm>
          <a:prstGeom prst="ellipse">
            <a:avLst/>
          </a:prstGeom>
          <a:solidFill>
            <a:srgbClr val="061528">
              <a:alpha val="0"/>
            </a:srgbClr>
          </a:solidFill>
          <a:ln w="19050">
            <a:solidFill>
              <a:srgbClr val="2EA7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6519672"/>
            <a:ext cx="64008" cy="54864"/>
          </a:xfrm>
          <a:prstGeom prst="rect">
            <a:avLst/>
          </a:prstGeom>
          <a:solidFill>
            <a:srgbClr val="2EA7FF">
              <a:alpha val="70000"/>
            </a:srgbClr>
          </a:solidFill>
          <a:ln w="12700">
            <a:solidFill>
              <a:srgbClr val="2EA7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" y="6519672"/>
            <a:ext cx="64008" cy="54864"/>
          </a:xfrm>
          <a:prstGeom prst="rect">
            <a:avLst/>
          </a:prstGeom>
          <a:solidFill>
            <a:srgbClr val="2EA7FF">
              <a:alpha val="70000"/>
            </a:srgbClr>
          </a:solidFill>
          <a:ln w="12700">
            <a:solidFill>
              <a:srgbClr val="2EA7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9264" y="6519672"/>
            <a:ext cx="64008" cy="54864"/>
          </a:xfrm>
          <a:prstGeom prst="rect">
            <a:avLst/>
          </a:prstGeom>
          <a:solidFill>
            <a:srgbClr val="2EA7FF">
              <a:alpha val="70000"/>
            </a:srgbClr>
          </a:solidFill>
          <a:ln w="12700">
            <a:solidFill>
              <a:srgbClr val="2EA7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0704" y="6519672"/>
            <a:ext cx="64008" cy="54864"/>
          </a:xfrm>
          <a:prstGeom prst="rect">
            <a:avLst/>
          </a:prstGeom>
          <a:solidFill>
            <a:srgbClr val="2EA7FF">
              <a:alpha val="70000"/>
            </a:srgbClr>
          </a:solidFill>
          <a:ln w="12700">
            <a:solidFill>
              <a:srgbClr val="2EA7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80192" y="6519672"/>
            <a:ext cx="82296" cy="54864"/>
          </a:xfrm>
          <a:prstGeom prst="rect">
            <a:avLst/>
          </a:prstGeom>
          <a:solidFill>
            <a:srgbClr val="2EA7FF">
              <a:alpha val="65000"/>
            </a:srgbClr>
          </a:solidFill>
          <a:ln w="12700">
            <a:solidFill>
              <a:srgbClr val="2EA7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789920" y="6519672"/>
            <a:ext cx="82296" cy="54864"/>
          </a:xfrm>
          <a:prstGeom prst="rect">
            <a:avLst/>
          </a:prstGeom>
          <a:solidFill>
            <a:srgbClr val="2EA7FF">
              <a:alpha val="65000"/>
            </a:srgbClr>
          </a:solidFill>
          <a:ln w="12700">
            <a:solidFill>
              <a:srgbClr val="2EA7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899648" y="6519672"/>
            <a:ext cx="82296" cy="54864"/>
          </a:xfrm>
          <a:prstGeom prst="rect">
            <a:avLst/>
          </a:prstGeom>
          <a:solidFill>
            <a:srgbClr val="2EA7FF">
              <a:alpha val="65000"/>
            </a:srgbClr>
          </a:solidFill>
          <a:ln w="12700">
            <a:solidFill>
              <a:srgbClr val="2EA7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09376" y="6519672"/>
            <a:ext cx="82296" cy="54864"/>
          </a:xfrm>
          <a:prstGeom prst="rect">
            <a:avLst/>
          </a:prstGeom>
          <a:solidFill>
            <a:srgbClr val="2EA7FF">
              <a:alpha val="65000"/>
            </a:srgbClr>
          </a:solidFill>
          <a:ln w="12700">
            <a:solidFill>
              <a:srgbClr val="2EA7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19104" y="6519672"/>
            <a:ext cx="82296" cy="54864"/>
          </a:xfrm>
          <a:prstGeom prst="rect">
            <a:avLst/>
          </a:prstGeom>
          <a:solidFill>
            <a:srgbClr val="2EA7FF">
              <a:alpha val="65000"/>
            </a:srgbClr>
          </a:solidFill>
          <a:ln w="12700">
            <a:solidFill>
              <a:srgbClr val="2EA7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58600" y="645566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9BCD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4360" y="65836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技术主线：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24612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9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感知状态量 → 主控决策 → 运动反馈闭环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594360" y="1417320"/>
            <a:ext cx="41148" cy="274320"/>
          </a:xfrm>
          <a:prstGeom prst="rect">
            <a:avLst/>
          </a:prstGeom>
          <a:solidFill>
            <a:srgbClr val="FF9B28"/>
          </a:solidFill>
          <a:ln w="12700">
            <a:solidFill>
              <a:srgbClr val="FF9B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" y="1380744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7F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系统亮点集中在两件事：视觉节点把图像转成稳定状态，主控节点把状态转成带反馈的运动指令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66928" y="2148840"/>
            <a:ext cx="1536192" cy="2029968"/>
          </a:xfrm>
          <a:prstGeom prst="roundRect">
            <a:avLst/>
          </a:prstGeom>
          <a:solidFill>
            <a:srgbClr val="0A2746">
              <a:alpha val="96000"/>
            </a:srgbClr>
          </a:solidFill>
          <a:ln w="10160">
            <a:solidFill>
              <a:srgbClr val="2EA7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42416" y="1764792"/>
            <a:ext cx="493776" cy="310896"/>
          </a:xfrm>
          <a:prstGeom prst="roundRect">
            <a:avLst/>
          </a:prstGeom>
          <a:solidFill>
            <a:srgbClr val="FF9B28"/>
          </a:solidFill>
          <a:ln w="6350">
            <a:solidFill>
              <a:srgbClr val="FF9B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42416" y="1815084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8368" y="240487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相机输入</a:t>
            </a:r>
            <a:endParaRPr lang="en-US" sz="14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8992" y="2834640"/>
            <a:ext cx="502920" cy="50292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768096" y="3410712"/>
            <a:ext cx="1216152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7F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Front RGB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7F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Ground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7F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Left Fisheye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7F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Right Fisheye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2167128" y="3108960"/>
            <a:ext cx="246888" cy="0"/>
          </a:xfrm>
          <a:prstGeom prst="line">
            <a:avLst/>
          </a:prstGeom>
          <a:noFill/>
          <a:ln w="25400">
            <a:solidFill>
              <a:srgbClr val="2EA7FF"/>
            </a:solidFill>
            <a:prstDash val="solid"/>
            <a:headEnd type="none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2468880" y="2148840"/>
            <a:ext cx="1536192" cy="2029968"/>
          </a:xfrm>
          <a:prstGeom prst="roundRect">
            <a:avLst/>
          </a:prstGeom>
          <a:solidFill>
            <a:srgbClr val="0A2746">
              <a:alpha val="96000"/>
            </a:srgbClr>
          </a:solidFill>
          <a:ln w="10160">
            <a:solidFill>
              <a:srgbClr val="2EA7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944368" y="1764792"/>
            <a:ext cx="493776" cy="310896"/>
          </a:xfrm>
          <a:prstGeom prst="roundRect">
            <a:avLst/>
          </a:prstGeom>
          <a:solidFill>
            <a:srgbClr val="FF9B28"/>
          </a:solidFill>
          <a:ln w="6350">
            <a:solidFill>
              <a:srgbClr val="FF9B2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944368" y="1815084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2560320" y="240487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视觉节点</a:t>
            </a:r>
            <a:endParaRPr lang="en-US" sz="1450" dirty="0"/>
          </a:p>
        </p:txBody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80944" y="2834640"/>
            <a:ext cx="502920" cy="50292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2670048" y="3410712"/>
            <a:ext cx="1216152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7F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adjust_node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7F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ground_node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7F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fisheyes_adjust_node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069080" y="3108960"/>
            <a:ext cx="246888" cy="0"/>
          </a:xfrm>
          <a:prstGeom prst="line">
            <a:avLst/>
          </a:prstGeom>
          <a:noFill/>
          <a:ln w="25400">
            <a:solidFill>
              <a:srgbClr val="2EA7FF"/>
            </a:solidFill>
            <a:prstDash val="solid"/>
            <a:headEnd type="none"/>
            <a:tailEnd type="triangle"/>
          </a:ln>
        </p:spPr>
      </p:sp>
      <p:sp>
        <p:nvSpPr>
          <p:cNvPr id="33" name="Shape 29"/>
          <p:cNvSpPr/>
          <p:nvPr/>
        </p:nvSpPr>
        <p:spPr>
          <a:xfrm>
            <a:off x="4370832" y="2148840"/>
            <a:ext cx="1536192" cy="2029968"/>
          </a:xfrm>
          <a:prstGeom prst="roundRect">
            <a:avLst/>
          </a:prstGeom>
          <a:solidFill>
            <a:srgbClr val="0A2746">
              <a:alpha val="96000"/>
            </a:srgbClr>
          </a:solidFill>
          <a:ln w="10160">
            <a:solidFill>
              <a:srgbClr val="2EA7FF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4846320" y="1764792"/>
            <a:ext cx="493776" cy="310896"/>
          </a:xfrm>
          <a:prstGeom prst="roundRect">
            <a:avLst/>
          </a:prstGeom>
          <a:solidFill>
            <a:srgbClr val="FF9B28"/>
          </a:solidFill>
          <a:ln w="6350">
            <a:solidFill>
              <a:srgbClr val="FF9B28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846320" y="1815084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200" dirty="0"/>
          </a:p>
        </p:txBody>
      </p:sp>
      <p:sp>
        <p:nvSpPr>
          <p:cNvPr id="36" name="Text 32"/>
          <p:cNvSpPr/>
          <p:nvPr/>
        </p:nvSpPr>
        <p:spPr>
          <a:xfrm>
            <a:off x="4462272" y="240487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状态话题</a:t>
            </a:r>
            <a:endParaRPr lang="en-US" sz="1450" dirty="0"/>
          </a:p>
        </p:txBody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82896" y="2834640"/>
            <a:ext cx="502920" cy="502920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4572000" y="3410712"/>
            <a:ext cx="1216152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7F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adjust_topic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7F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ground_topic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7F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fish_rgap_topic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7F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hit_ratio_topic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7F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fish_line_topic</a:t>
            </a:r>
            <a:endParaRPr lang="en-US" sz="850" dirty="0"/>
          </a:p>
        </p:txBody>
      </p:sp>
      <p:sp>
        <p:nvSpPr>
          <p:cNvPr id="39" name="Shape 34"/>
          <p:cNvSpPr/>
          <p:nvPr/>
        </p:nvSpPr>
        <p:spPr>
          <a:xfrm>
            <a:off x="5971032" y="3108960"/>
            <a:ext cx="246888" cy="0"/>
          </a:xfrm>
          <a:prstGeom prst="line">
            <a:avLst/>
          </a:prstGeom>
          <a:noFill/>
          <a:ln w="25400">
            <a:solidFill>
              <a:srgbClr val="2EA7FF"/>
            </a:solidFill>
            <a:prstDash val="solid"/>
            <a:headEnd type="none"/>
            <a:tailEnd type="triangle"/>
          </a:ln>
        </p:spPr>
      </p:sp>
      <p:sp>
        <p:nvSpPr>
          <p:cNvPr id="40" name="Shape 35"/>
          <p:cNvSpPr/>
          <p:nvPr/>
        </p:nvSpPr>
        <p:spPr>
          <a:xfrm>
            <a:off x="6272784" y="2148840"/>
            <a:ext cx="1536192" cy="2029968"/>
          </a:xfrm>
          <a:prstGeom prst="roundRect">
            <a:avLst/>
          </a:prstGeom>
          <a:solidFill>
            <a:srgbClr val="0A2746">
              <a:alpha val="96000"/>
            </a:srgbClr>
          </a:solidFill>
          <a:ln w="10160">
            <a:solidFill>
              <a:srgbClr val="FF9B28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6748272" y="1764792"/>
            <a:ext cx="493776" cy="310896"/>
          </a:xfrm>
          <a:prstGeom prst="roundRect">
            <a:avLst/>
          </a:prstGeom>
          <a:solidFill>
            <a:srgbClr val="FF9B28"/>
          </a:solidFill>
          <a:ln w="6350">
            <a:solidFill>
              <a:srgbClr val="FF9B28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6748272" y="1815084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200" dirty="0"/>
          </a:p>
        </p:txBody>
      </p:sp>
      <p:sp>
        <p:nvSpPr>
          <p:cNvPr id="43" name="Text 38"/>
          <p:cNvSpPr/>
          <p:nvPr/>
        </p:nvSpPr>
        <p:spPr>
          <a:xfrm>
            <a:off x="6364224" y="240487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主控节点</a:t>
            </a:r>
            <a:endParaRPr lang="en-US" sz="1450" dirty="0"/>
          </a:p>
        </p:txBody>
      </p:sp>
      <p:pic>
        <p:nvPicPr>
          <p:cNvPr id="4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84848" y="2834640"/>
            <a:ext cx="502920" cy="502920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6473952" y="3410712"/>
            <a:ext cx="1216152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7F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masterNode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7F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run_pid_align()</a:t>
            </a:r>
            <a:endParaRPr lang="en-US" sz="850" dirty="0"/>
          </a:p>
        </p:txBody>
      </p:sp>
      <p:sp>
        <p:nvSpPr>
          <p:cNvPr id="46" name="Shape 40"/>
          <p:cNvSpPr/>
          <p:nvPr/>
        </p:nvSpPr>
        <p:spPr>
          <a:xfrm>
            <a:off x="7872984" y="3108960"/>
            <a:ext cx="246888" cy="0"/>
          </a:xfrm>
          <a:prstGeom prst="line">
            <a:avLst/>
          </a:prstGeom>
          <a:noFill/>
          <a:ln w="25400">
            <a:solidFill>
              <a:srgbClr val="FF9B28"/>
            </a:solidFill>
            <a:prstDash val="solid"/>
            <a:headEnd type="none"/>
            <a:tailEnd type="triangle"/>
          </a:ln>
        </p:spPr>
      </p:sp>
      <p:sp>
        <p:nvSpPr>
          <p:cNvPr id="47" name="Shape 41"/>
          <p:cNvSpPr/>
          <p:nvPr/>
        </p:nvSpPr>
        <p:spPr>
          <a:xfrm>
            <a:off x="8174736" y="2148840"/>
            <a:ext cx="1536192" cy="2029968"/>
          </a:xfrm>
          <a:prstGeom prst="roundRect">
            <a:avLst/>
          </a:prstGeom>
          <a:solidFill>
            <a:srgbClr val="0A2746">
              <a:alpha val="96000"/>
            </a:srgbClr>
          </a:solidFill>
          <a:ln w="10160">
            <a:solidFill>
              <a:srgbClr val="FF9B28"/>
            </a:solidFill>
            <a:prstDash val="solid"/>
          </a:ln>
        </p:spPr>
      </p:sp>
      <p:sp>
        <p:nvSpPr>
          <p:cNvPr id="48" name="Shape 42"/>
          <p:cNvSpPr/>
          <p:nvPr/>
        </p:nvSpPr>
        <p:spPr>
          <a:xfrm>
            <a:off x="8650224" y="1764792"/>
            <a:ext cx="493776" cy="310896"/>
          </a:xfrm>
          <a:prstGeom prst="roundRect">
            <a:avLst/>
          </a:prstGeom>
          <a:solidFill>
            <a:srgbClr val="FF9B28"/>
          </a:solidFill>
          <a:ln w="6350">
            <a:solidFill>
              <a:srgbClr val="FF9B28"/>
            </a:solidFill>
            <a:prstDash val="solid"/>
          </a:ln>
        </p:spPr>
      </p:sp>
      <p:sp>
        <p:nvSpPr>
          <p:cNvPr id="49" name="Text 43"/>
          <p:cNvSpPr/>
          <p:nvPr/>
        </p:nvSpPr>
        <p:spPr>
          <a:xfrm>
            <a:off x="8650224" y="1815084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1200" dirty="0"/>
          </a:p>
        </p:txBody>
      </p:sp>
      <p:sp>
        <p:nvSpPr>
          <p:cNvPr id="50" name="Text 44"/>
          <p:cNvSpPr/>
          <p:nvPr/>
        </p:nvSpPr>
        <p:spPr>
          <a:xfrm>
            <a:off x="8266176" y="240487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LCM控制</a:t>
            </a:r>
            <a:endParaRPr lang="en-US" sz="1450" dirty="0"/>
          </a:p>
        </p:txBody>
      </p:sp>
      <p:pic>
        <p:nvPicPr>
          <p:cNvPr id="5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686800" y="2834640"/>
            <a:ext cx="502920" cy="502920"/>
          </a:xfrm>
          <a:prstGeom prst="rect">
            <a:avLst/>
          </a:prstGeom>
        </p:spPr>
      </p:pic>
      <p:sp>
        <p:nvSpPr>
          <p:cNvPr id="52" name="Text 45"/>
          <p:cNvSpPr/>
          <p:nvPr/>
        </p:nvSpPr>
        <p:spPr>
          <a:xfrm>
            <a:off x="8375904" y="3410712"/>
            <a:ext cx="1216152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7F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robot_control_cmd</a:t>
            </a:r>
            <a:endParaRPr lang="en-US" sz="850" dirty="0"/>
          </a:p>
        </p:txBody>
      </p:sp>
      <p:sp>
        <p:nvSpPr>
          <p:cNvPr id="53" name="Shape 46"/>
          <p:cNvSpPr/>
          <p:nvPr/>
        </p:nvSpPr>
        <p:spPr>
          <a:xfrm>
            <a:off x="9774936" y="3108960"/>
            <a:ext cx="246888" cy="0"/>
          </a:xfrm>
          <a:prstGeom prst="line">
            <a:avLst/>
          </a:prstGeom>
          <a:noFill/>
          <a:ln w="25400">
            <a:solidFill>
              <a:srgbClr val="FF9B28"/>
            </a:solidFill>
            <a:prstDash val="solid"/>
            <a:headEnd type="none"/>
            <a:tailEnd type="triangle"/>
          </a:ln>
        </p:spPr>
      </p:sp>
      <p:sp>
        <p:nvSpPr>
          <p:cNvPr id="54" name="Shape 47"/>
          <p:cNvSpPr/>
          <p:nvPr/>
        </p:nvSpPr>
        <p:spPr>
          <a:xfrm>
            <a:off x="10076688" y="2148840"/>
            <a:ext cx="1536192" cy="2029968"/>
          </a:xfrm>
          <a:prstGeom prst="roundRect">
            <a:avLst/>
          </a:prstGeom>
          <a:solidFill>
            <a:srgbClr val="0A2746">
              <a:alpha val="96000"/>
            </a:srgbClr>
          </a:solidFill>
          <a:ln w="10160">
            <a:solidFill>
              <a:srgbClr val="FF9B28"/>
            </a:solidFill>
            <a:prstDash val="solid"/>
          </a:ln>
        </p:spPr>
      </p:sp>
      <p:sp>
        <p:nvSpPr>
          <p:cNvPr id="55" name="Shape 48"/>
          <p:cNvSpPr/>
          <p:nvPr/>
        </p:nvSpPr>
        <p:spPr>
          <a:xfrm>
            <a:off x="10552176" y="1764792"/>
            <a:ext cx="493776" cy="310896"/>
          </a:xfrm>
          <a:prstGeom prst="roundRect">
            <a:avLst/>
          </a:prstGeom>
          <a:solidFill>
            <a:srgbClr val="FF9B28"/>
          </a:solidFill>
          <a:ln w="6350">
            <a:solidFill>
              <a:srgbClr val="FF9B28"/>
            </a:solidFill>
            <a:prstDash val="solid"/>
          </a:ln>
        </p:spPr>
      </p:sp>
      <p:sp>
        <p:nvSpPr>
          <p:cNvPr id="56" name="Text 49"/>
          <p:cNvSpPr/>
          <p:nvPr/>
        </p:nvSpPr>
        <p:spPr>
          <a:xfrm>
            <a:off x="10552176" y="1815084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1200" dirty="0"/>
          </a:p>
        </p:txBody>
      </p:sp>
      <p:sp>
        <p:nvSpPr>
          <p:cNvPr id="57" name="Text 50"/>
          <p:cNvSpPr/>
          <p:nvPr/>
        </p:nvSpPr>
        <p:spPr>
          <a:xfrm>
            <a:off x="10168128" y="240487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运动控制板</a:t>
            </a:r>
            <a:endParaRPr lang="en-US" sz="1450" dirty="0"/>
          </a:p>
        </p:txBody>
      </p:sp>
      <p:pic>
        <p:nvPicPr>
          <p:cNvPr id="5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588752" y="2834640"/>
            <a:ext cx="502920" cy="502920"/>
          </a:xfrm>
          <a:prstGeom prst="rect">
            <a:avLst/>
          </a:prstGeom>
        </p:spPr>
      </p:pic>
      <p:sp>
        <p:nvSpPr>
          <p:cNvPr id="59" name="Text 51"/>
          <p:cNvSpPr/>
          <p:nvPr/>
        </p:nvSpPr>
        <p:spPr>
          <a:xfrm>
            <a:off x="10277856" y="3410712"/>
            <a:ext cx="1216152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7F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执行动作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7F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robot_control_response</a:t>
            </a:r>
            <a:endParaRPr lang="en-US" sz="850" dirty="0"/>
          </a:p>
        </p:txBody>
      </p:sp>
      <p:sp>
        <p:nvSpPr>
          <p:cNvPr id="60" name="Shape 52"/>
          <p:cNvSpPr/>
          <p:nvPr/>
        </p:nvSpPr>
        <p:spPr>
          <a:xfrm>
            <a:off x="10287000" y="4325112"/>
            <a:ext cx="0" cy="320040"/>
          </a:xfrm>
          <a:prstGeom prst="line">
            <a:avLst/>
          </a:prstGeom>
          <a:noFill/>
          <a:ln w="20320">
            <a:solidFill>
              <a:srgbClr val="FFD54A"/>
            </a:solidFill>
            <a:prstDash val="solid"/>
          </a:ln>
        </p:spPr>
      </p:sp>
      <p:sp>
        <p:nvSpPr>
          <p:cNvPr id="61" name="Shape 53"/>
          <p:cNvSpPr/>
          <p:nvPr/>
        </p:nvSpPr>
        <p:spPr>
          <a:xfrm>
            <a:off x="10287000" y="4645152"/>
            <a:ext cx="-3429000" cy="0"/>
          </a:xfrm>
          <a:prstGeom prst="line">
            <a:avLst/>
          </a:prstGeom>
          <a:noFill/>
          <a:ln w="20320">
            <a:solidFill>
              <a:srgbClr val="FFD54A"/>
            </a:solidFill>
            <a:prstDash val="solid"/>
            <a:tailEnd type="triangle"/>
          </a:ln>
        </p:spPr>
      </p:sp>
      <p:sp>
        <p:nvSpPr>
          <p:cNvPr id="62" name="Shape 54"/>
          <p:cNvSpPr/>
          <p:nvPr/>
        </p:nvSpPr>
        <p:spPr>
          <a:xfrm>
            <a:off x="6858000" y="4645152"/>
            <a:ext cx="0" cy="-320040"/>
          </a:xfrm>
          <a:prstGeom prst="line">
            <a:avLst/>
          </a:prstGeom>
          <a:noFill/>
          <a:ln w="20320">
            <a:solidFill>
              <a:srgbClr val="FFD54A"/>
            </a:solidFill>
            <a:prstDash val="solid"/>
          </a:ln>
        </p:spPr>
      </p:sp>
      <p:sp>
        <p:nvSpPr>
          <p:cNvPr id="63" name="Text 55"/>
          <p:cNvSpPr/>
          <p:nvPr/>
        </p:nvSpPr>
        <p:spPr>
          <a:xfrm>
            <a:off x="7452360" y="4773168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5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反馈确认 / order_process_bar / 心跳重发</a:t>
            </a:r>
            <a:endParaRPr lang="en-US" sz="1050" dirty="0"/>
          </a:p>
        </p:txBody>
      </p:sp>
      <p:sp>
        <p:nvSpPr>
          <p:cNvPr id="64" name="Shape 56"/>
          <p:cNvSpPr/>
          <p:nvPr/>
        </p:nvSpPr>
        <p:spPr>
          <a:xfrm>
            <a:off x="694944" y="4709160"/>
            <a:ext cx="594360" cy="0"/>
          </a:xfrm>
          <a:prstGeom prst="line">
            <a:avLst/>
          </a:prstGeom>
          <a:noFill/>
          <a:ln w="22860">
            <a:solidFill>
              <a:srgbClr val="2EA7FF"/>
            </a:solidFill>
            <a:prstDash val="solid"/>
            <a:tailEnd type="triangle"/>
          </a:ln>
        </p:spPr>
      </p:sp>
      <p:sp>
        <p:nvSpPr>
          <p:cNvPr id="65" name="Text 57"/>
          <p:cNvSpPr/>
          <p:nvPr/>
        </p:nvSpPr>
        <p:spPr>
          <a:xfrm>
            <a:off x="1417320" y="462686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A9BCD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数据流（感知→状态）</a:t>
            </a:r>
            <a:endParaRPr lang="en-US" sz="930" dirty="0"/>
          </a:p>
        </p:txBody>
      </p:sp>
      <p:sp>
        <p:nvSpPr>
          <p:cNvPr id="66" name="Shape 58"/>
          <p:cNvSpPr/>
          <p:nvPr/>
        </p:nvSpPr>
        <p:spPr>
          <a:xfrm>
            <a:off x="694944" y="4965192"/>
            <a:ext cx="594360" cy="0"/>
          </a:xfrm>
          <a:prstGeom prst="line">
            <a:avLst/>
          </a:prstGeom>
          <a:noFill/>
          <a:ln w="22860">
            <a:solidFill>
              <a:srgbClr val="FF9B28"/>
            </a:solidFill>
            <a:prstDash val="solid"/>
            <a:tailEnd type="triangle"/>
          </a:ln>
        </p:spPr>
      </p:sp>
      <p:sp>
        <p:nvSpPr>
          <p:cNvPr id="67" name="Text 59"/>
          <p:cNvSpPr/>
          <p:nvPr/>
        </p:nvSpPr>
        <p:spPr>
          <a:xfrm>
            <a:off x="1417320" y="488289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A9BCD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控制流（决策→执行）</a:t>
            </a:r>
            <a:endParaRPr lang="en-US" sz="930" dirty="0"/>
          </a:p>
        </p:txBody>
      </p:sp>
      <p:sp>
        <p:nvSpPr>
          <p:cNvPr id="68" name="Shape 60"/>
          <p:cNvSpPr/>
          <p:nvPr/>
        </p:nvSpPr>
        <p:spPr>
          <a:xfrm>
            <a:off x="694944" y="5221224"/>
            <a:ext cx="594360" cy="0"/>
          </a:xfrm>
          <a:prstGeom prst="line">
            <a:avLst/>
          </a:prstGeom>
          <a:noFill/>
          <a:ln w="22860">
            <a:solidFill>
              <a:srgbClr val="FFD54A"/>
            </a:solidFill>
            <a:prstDash val="solid"/>
            <a:tailEnd type="triangle"/>
          </a:ln>
        </p:spPr>
      </p:sp>
      <p:sp>
        <p:nvSpPr>
          <p:cNvPr id="69" name="Text 61"/>
          <p:cNvSpPr/>
          <p:nvPr/>
        </p:nvSpPr>
        <p:spPr>
          <a:xfrm>
            <a:off x="1417320" y="513892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A9BCD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反馈流（确认→决策）</a:t>
            </a:r>
            <a:endParaRPr lang="en-US" sz="930" dirty="0"/>
          </a:p>
        </p:txBody>
      </p:sp>
      <p:sp>
        <p:nvSpPr>
          <p:cNvPr id="70" name="Shape 62"/>
          <p:cNvSpPr/>
          <p:nvPr/>
        </p:nvSpPr>
        <p:spPr>
          <a:xfrm>
            <a:off x="502920" y="5468112"/>
            <a:ext cx="3401568" cy="804672"/>
          </a:xfrm>
          <a:prstGeom prst="roundRect">
            <a:avLst/>
          </a:prstGeom>
          <a:solidFill>
            <a:srgbClr val="0A2746">
              <a:alpha val="98000"/>
            </a:srgbClr>
          </a:solidFill>
          <a:ln w="9525">
            <a:solidFill>
              <a:srgbClr val="2EA7FF"/>
            </a:solidFill>
            <a:prstDash val="solid"/>
          </a:ln>
        </p:spPr>
      </p:sp>
      <p:pic>
        <p:nvPicPr>
          <p:cNvPr id="71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7512" y="5614416"/>
            <a:ext cx="438912" cy="438912"/>
          </a:xfrm>
          <a:prstGeom prst="rect">
            <a:avLst/>
          </a:prstGeom>
        </p:spPr>
      </p:pic>
      <p:sp>
        <p:nvSpPr>
          <p:cNvPr id="72" name="Text 63"/>
          <p:cNvSpPr/>
          <p:nvPr/>
        </p:nvSpPr>
        <p:spPr>
          <a:xfrm>
            <a:off x="1216152" y="563270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2C7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多相机状态压缩</a:t>
            </a:r>
            <a:endParaRPr lang="en-US" sz="1300" dirty="0"/>
          </a:p>
        </p:txBody>
      </p:sp>
      <p:sp>
        <p:nvSpPr>
          <p:cNvPr id="73" name="Text 64"/>
          <p:cNvSpPr/>
          <p:nvPr/>
        </p:nvSpPr>
        <p:spPr>
          <a:xfrm>
            <a:off x="1216152" y="590702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E7F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多源相机信息融合与压缩，输出稳定、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E7F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可用于决策的状态话题</a:t>
            </a:r>
            <a:endParaRPr lang="en-US" sz="830" dirty="0"/>
          </a:p>
        </p:txBody>
      </p:sp>
      <p:sp>
        <p:nvSpPr>
          <p:cNvPr id="74" name="Shape 65"/>
          <p:cNvSpPr/>
          <p:nvPr/>
        </p:nvSpPr>
        <p:spPr>
          <a:xfrm>
            <a:off x="4251960" y="5468112"/>
            <a:ext cx="3401568" cy="804672"/>
          </a:xfrm>
          <a:prstGeom prst="roundRect">
            <a:avLst/>
          </a:prstGeom>
          <a:solidFill>
            <a:srgbClr val="0A2746">
              <a:alpha val="98000"/>
            </a:srgbClr>
          </a:solidFill>
          <a:ln w="9525">
            <a:solidFill>
              <a:srgbClr val="2EA7FF"/>
            </a:solidFill>
            <a:prstDash val="solid"/>
          </a:ln>
        </p:spPr>
      </p:sp>
      <p:pic>
        <p:nvPicPr>
          <p:cNvPr id="75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416552" y="5614416"/>
            <a:ext cx="438912" cy="438912"/>
          </a:xfrm>
          <a:prstGeom prst="rect">
            <a:avLst/>
          </a:prstGeom>
        </p:spPr>
      </p:pic>
      <p:sp>
        <p:nvSpPr>
          <p:cNvPr id="76" name="Text 66"/>
          <p:cNvSpPr/>
          <p:nvPr/>
        </p:nvSpPr>
        <p:spPr>
          <a:xfrm>
            <a:off x="4965192" y="563270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2C7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PID + 死区 + 限幅</a:t>
            </a:r>
            <a:endParaRPr lang="en-US" sz="1300" dirty="0"/>
          </a:p>
        </p:txBody>
      </p:sp>
      <p:sp>
        <p:nvSpPr>
          <p:cNvPr id="77" name="Text 67"/>
          <p:cNvSpPr/>
          <p:nvPr/>
        </p:nvSpPr>
        <p:spPr>
          <a:xfrm>
            <a:off x="4965192" y="590702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E7F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PID对齐控制，结合死区抑制抖动、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E7F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限幅保护，输出平滑可控指令</a:t>
            </a:r>
            <a:endParaRPr lang="en-US" sz="830" dirty="0"/>
          </a:p>
        </p:txBody>
      </p:sp>
      <p:sp>
        <p:nvSpPr>
          <p:cNvPr id="78" name="Shape 68"/>
          <p:cNvSpPr/>
          <p:nvPr/>
        </p:nvSpPr>
        <p:spPr>
          <a:xfrm>
            <a:off x="8001000" y="5468112"/>
            <a:ext cx="3401568" cy="804672"/>
          </a:xfrm>
          <a:prstGeom prst="roundRect">
            <a:avLst/>
          </a:prstGeom>
          <a:solidFill>
            <a:srgbClr val="0A2746">
              <a:alpha val="98000"/>
            </a:srgbClr>
          </a:solidFill>
          <a:ln w="9525">
            <a:solidFill>
              <a:srgbClr val="FF9B28"/>
            </a:solidFill>
            <a:prstDash val="solid"/>
          </a:ln>
        </p:spPr>
      </p:sp>
      <p:pic>
        <p:nvPicPr>
          <p:cNvPr id="79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165592" y="5614416"/>
            <a:ext cx="438912" cy="438912"/>
          </a:xfrm>
          <a:prstGeom prst="rect">
            <a:avLst/>
          </a:prstGeom>
        </p:spPr>
      </p:pic>
      <p:sp>
        <p:nvSpPr>
          <p:cNvPr id="80" name="Text 69"/>
          <p:cNvSpPr/>
          <p:nvPr/>
        </p:nvSpPr>
        <p:spPr>
          <a:xfrm>
            <a:off x="8714232" y="563270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D5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LCM反馈确认与心跳重发</a:t>
            </a:r>
            <a:endParaRPr lang="en-US" sz="1300" dirty="0"/>
          </a:p>
        </p:txBody>
      </p:sp>
      <p:sp>
        <p:nvSpPr>
          <p:cNvPr id="81" name="Text 70"/>
          <p:cNvSpPr/>
          <p:nvPr/>
        </p:nvSpPr>
        <p:spPr>
          <a:xfrm>
            <a:off x="8714232" y="590702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E7F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执行结果回传与心跳监测，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E7F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异常自动重发，确保指令可靠落地</a:t>
            </a:r>
            <a:endParaRPr lang="en-US" sz="8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15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528"/>
          </a:solidFill>
          <a:ln w="12700">
            <a:solidFill>
              <a:srgbClr val="0615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" y="6565392"/>
            <a:ext cx="11292840" cy="0"/>
          </a:xfrm>
          <a:prstGeom prst="line">
            <a:avLst/>
          </a:prstGeom>
          <a:noFill/>
          <a:ln w="8890">
            <a:solidFill>
              <a:srgbClr val="2EA7FF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9768" y="6501384"/>
            <a:ext cx="128016" cy="128016"/>
          </a:xfrm>
          <a:prstGeom prst="ellipse">
            <a:avLst/>
          </a:prstGeom>
          <a:solidFill>
            <a:srgbClr val="061528">
              <a:alpha val="0"/>
            </a:srgbClr>
          </a:solidFill>
          <a:ln w="19050">
            <a:solidFill>
              <a:srgbClr val="2EA7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6519672"/>
            <a:ext cx="64008" cy="54864"/>
          </a:xfrm>
          <a:prstGeom prst="rect">
            <a:avLst/>
          </a:prstGeom>
          <a:solidFill>
            <a:srgbClr val="2EA7FF">
              <a:alpha val="70000"/>
            </a:srgbClr>
          </a:solidFill>
          <a:ln w="12700">
            <a:solidFill>
              <a:srgbClr val="2EA7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" y="6519672"/>
            <a:ext cx="64008" cy="54864"/>
          </a:xfrm>
          <a:prstGeom prst="rect">
            <a:avLst/>
          </a:prstGeom>
          <a:solidFill>
            <a:srgbClr val="2EA7FF">
              <a:alpha val="70000"/>
            </a:srgbClr>
          </a:solidFill>
          <a:ln w="12700">
            <a:solidFill>
              <a:srgbClr val="2EA7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9264" y="6519672"/>
            <a:ext cx="64008" cy="54864"/>
          </a:xfrm>
          <a:prstGeom prst="rect">
            <a:avLst/>
          </a:prstGeom>
          <a:solidFill>
            <a:srgbClr val="2EA7FF">
              <a:alpha val="70000"/>
            </a:srgbClr>
          </a:solidFill>
          <a:ln w="12700">
            <a:solidFill>
              <a:srgbClr val="2EA7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0704" y="6519672"/>
            <a:ext cx="64008" cy="54864"/>
          </a:xfrm>
          <a:prstGeom prst="rect">
            <a:avLst/>
          </a:prstGeom>
          <a:solidFill>
            <a:srgbClr val="2EA7FF">
              <a:alpha val="70000"/>
            </a:srgbClr>
          </a:solidFill>
          <a:ln w="12700">
            <a:solidFill>
              <a:srgbClr val="2EA7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80192" y="6519672"/>
            <a:ext cx="82296" cy="54864"/>
          </a:xfrm>
          <a:prstGeom prst="rect">
            <a:avLst/>
          </a:prstGeom>
          <a:solidFill>
            <a:srgbClr val="2EA7FF">
              <a:alpha val="65000"/>
            </a:srgbClr>
          </a:solidFill>
          <a:ln w="12700">
            <a:solidFill>
              <a:srgbClr val="2EA7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789920" y="6519672"/>
            <a:ext cx="82296" cy="54864"/>
          </a:xfrm>
          <a:prstGeom prst="rect">
            <a:avLst/>
          </a:prstGeom>
          <a:solidFill>
            <a:srgbClr val="2EA7FF">
              <a:alpha val="65000"/>
            </a:srgbClr>
          </a:solidFill>
          <a:ln w="12700">
            <a:solidFill>
              <a:srgbClr val="2EA7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899648" y="6519672"/>
            <a:ext cx="82296" cy="54864"/>
          </a:xfrm>
          <a:prstGeom prst="rect">
            <a:avLst/>
          </a:prstGeom>
          <a:solidFill>
            <a:srgbClr val="2EA7FF">
              <a:alpha val="65000"/>
            </a:srgbClr>
          </a:solidFill>
          <a:ln w="12700">
            <a:solidFill>
              <a:srgbClr val="2EA7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09376" y="6519672"/>
            <a:ext cx="82296" cy="54864"/>
          </a:xfrm>
          <a:prstGeom prst="rect">
            <a:avLst/>
          </a:prstGeom>
          <a:solidFill>
            <a:srgbClr val="2EA7FF">
              <a:alpha val="65000"/>
            </a:srgbClr>
          </a:solidFill>
          <a:ln w="12700">
            <a:solidFill>
              <a:srgbClr val="2EA7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19104" y="6519672"/>
            <a:ext cx="82296" cy="54864"/>
          </a:xfrm>
          <a:prstGeom prst="rect">
            <a:avLst/>
          </a:prstGeom>
          <a:solidFill>
            <a:srgbClr val="2EA7FF">
              <a:alpha val="65000"/>
            </a:srgbClr>
          </a:solidFill>
          <a:ln w="12700">
            <a:solidFill>
              <a:srgbClr val="2EA7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58600" y="645566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9BCD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4360" y="65836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阶段成果：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24612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9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从技术模块到比赛动作编排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594360" y="1417320"/>
            <a:ext cx="41148" cy="274320"/>
          </a:xfrm>
          <a:prstGeom prst="rect">
            <a:avLst/>
          </a:prstGeom>
          <a:solidFill>
            <a:srgbClr val="FF9B28"/>
          </a:solidFill>
          <a:ln w="12700">
            <a:solidFill>
              <a:srgbClr val="FF9B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" y="1380744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7F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 Demo 已形成可复用的自主运行底座，核心价值在于多赛段策略编排，而不是孤立算法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478024" y="1965960"/>
            <a:ext cx="0" cy="4069080"/>
          </a:xfrm>
          <a:prstGeom prst="line">
            <a:avLst/>
          </a:prstGeom>
          <a:noFill/>
          <a:ln w="8890">
            <a:solidFill>
              <a:srgbClr val="2EA7FF">
                <a:alpha val="7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38544" y="1965960"/>
            <a:ext cx="0" cy="4069080"/>
          </a:xfrm>
          <a:prstGeom prst="line">
            <a:avLst/>
          </a:prstGeom>
          <a:noFill/>
          <a:ln w="8890">
            <a:solidFill>
              <a:srgbClr val="2EA7FF">
                <a:alpha val="7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" y="2468880"/>
            <a:ext cx="7543800" cy="0"/>
          </a:xfrm>
          <a:prstGeom prst="line">
            <a:avLst/>
          </a:prstGeom>
          <a:noFill/>
          <a:ln w="8890">
            <a:solidFill>
              <a:srgbClr val="2EA7FF">
                <a:alpha val="7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2064" y="3063240"/>
            <a:ext cx="7543800" cy="0"/>
          </a:xfrm>
          <a:prstGeom prst="line">
            <a:avLst/>
          </a:prstGeom>
          <a:noFill/>
          <a:ln w="6350">
            <a:solidFill>
              <a:srgbClr val="2EA7FF">
                <a:alpha val="5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2064" y="3657600"/>
            <a:ext cx="7543800" cy="0"/>
          </a:xfrm>
          <a:prstGeom prst="line">
            <a:avLst/>
          </a:prstGeom>
          <a:noFill/>
          <a:ln w="6350">
            <a:solidFill>
              <a:srgbClr val="2EA7FF">
                <a:alpha val="5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2064" y="4251960"/>
            <a:ext cx="7543800" cy="0"/>
          </a:xfrm>
          <a:prstGeom prst="line">
            <a:avLst/>
          </a:prstGeom>
          <a:noFill/>
          <a:ln w="6350">
            <a:solidFill>
              <a:srgbClr val="2EA7FF">
                <a:alpha val="5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064" y="4846320"/>
            <a:ext cx="7543800" cy="0"/>
          </a:xfrm>
          <a:prstGeom prst="line">
            <a:avLst/>
          </a:prstGeom>
          <a:noFill/>
          <a:ln w="6350">
            <a:solidFill>
              <a:srgbClr val="2EA7FF">
                <a:alpha val="5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2064" y="5440680"/>
            <a:ext cx="7543800" cy="0"/>
          </a:xfrm>
          <a:prstGeom prst="line">
            <a:avLst/>
          </a:prstGeom>
          <a:noFill/>
          <a:ln w="6350">
            <a:solidFill>
              <a:srgbClr val="2EA7FF">
                <a:alpha val="55000"/>
              </a:srgbClr>
            </a:solidFill>
            <a:prstDash val="solid"/>
          </a:ln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8096" y="2112264"/>
            <a:ext cx="237744" cy="237744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106424" y="21305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5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赛段</a:t>
            </a:r>
            <a:endParaRPr lang="en-US" sz="1300" dirty="0"/>
          </a:p>
        </p:txBody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38144" y="2112264"/>
            <a:ext cx="237744" cy="237744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3803904" y="213055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C7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技术策略</a:t>
            </a:r>
            <a:endParaRPr lang="en-US" sz="1300" dirty="0"/>
          </a:p>
        </p:txBody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58584" y="2112264"/>
            <a:ext cx="237744" cy="237744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7269480" y="21305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C7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</a:t>
            </a:r>
            <a:endParaRPr lang="en-US" sz="1300" dirty="0"/>
          </a:p>
        </p:txBody>
      </p:sp>
      <p:sp>
        <p:nvSpPr>
          <p:cNvPr id="33" name="Shape 28"/>
          <p:cNvSpPr/>
          <p:nvPr/>
        </p:nvSpPr>
        <p:spPr>
          <a:xfrm>
            <a:off x="713232" y="2633472"/>
            <a:ext cx="411480" cy="274320"/>
          </a:xfrm>
          <a:prstGeom prst="roundRect">
            <a:avLst/>
          </a:prstGeom>
          <a:solidFill>
            <a:srgbClr val="FF9B28"/>
          </a:solidFill>
          <a:ln w="6350">
            <a:solidFill>
              <a:srgbClr val="FF9B28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713232" y="268376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1335024" y="264261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石径探路</a:t>
            </a:r>
            <a:endParaRPr lang="en-US" sz="1250" dirty="0"/>
          </a:p>
        </p:txBody>
      </p:sp>
      <p:sp>
        <p:nvSpPr>
          <p:cNvPr id="36" name="Text 31"/>
          <p:cNvSpPr/>
          <p:nvPr/>
        </p:nvSpPr>
        <p:spPr>
          <a:xfrm>
            <a:off x="2752344" y="2660904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7F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校正 + 跳跃通过障碍</a:t>
            </a:r>
            <a:endParaRPr lang="en-US" sz="1150" dirty="0"/>
          </a:p>
        </p:txBody>
      </p:sp>
      <p:sp>
        <p:nvSpPr>
          <p:cNvPr id="37" name="Shape 32"/>
          <p:cNvSpPr/>
          <p:nvPr/>
        </p:nvSpPr>
        <p:spPr>
          <a:xfrm>
            <a:off x="6821424" y="2606040"/>
            <a:ext cx="676656" cy="310896"/>
          </a:xfrm>
          <a:prstGeom prst="roundRect">
            <a:avLst/>
          </a:prstGeom>
          <a:solidFill>
            <a:srgbClr val="0B6BEA"/>
          </a:solidFill>
          <a:ln w="12700">
            <a:solidFill>
              <a:srgbClr val="0B6BEA">
                <a:alpha val="0"/>
              </a:srgbClr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6821424" y="2670048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已实现</a:t>
            </a:r>
            <a:endParaRPr lang="en-US" sz="1200" dirty="0"/>
          </a:p>
        </p:txBody>
      </p:sp>
      <p:sp>
        <p:nvSpPr>
          <p:cNvPr id="39" name="Shape 34"/>
          <p:cNvSpPr/>
          <p:nvPr/>
        </p:nvSpPr>
        <p:spPr>
          <a:xfrm>
            <a:off x="713232" y="3227832"/>
            <a:ext cx="411480" cy="274320"/>
          </a:xfrm>
          <a:prstGeom prst="roundRect">
            <a:avLst/>
          </a:prstGeom>
          <a:solidFill>
            <a:srgbClr val="FF9B28"/>
          </a:solidFill>
          <a:ln w="6350">
            <a:solidFill>
              <a:srgbClr val="FF9B28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713232" y="327812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000" dirty="0"/>
          </a:p>
        </p:txBody>
      </p:sp>
      <p:sp>
        <p:nvSpPr>
          <p:cNvPr id="41" name="Text 36"/>
          <p:cNvSpPr/>
          <p:nvPr/>
        </p:nvSpPr>
        <p:spPr>
          <a:xfrm>
            <a:off x="1335024" y="323697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荒野寻珠</a:t>
            </a:r>
            <a:endParaRPr lang="en-US" sz="1250" dirty="0"/>
          </a:p>
        </p:txBody>
      </p:sp>
      <p:sp>
        <p:nvSpPr>
          <p:cNvPr id="42" name="Text 37"/>
          <p:cNvSpPr/>
          <p:nvPr/>
        </p:nvSpPr>
        <p:spPr>
          <a:xfrm>
            <a:off x="2752344" y="3255264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7F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鱼眼橙球识别 + 左右差纠偏 + 撞击触发</a:t>
            </a:r>
            <a:endParaRPr lang="en-US" sz="1150" dirty="0"/>
          </a:p>
        </p:txBody>
      </p:sp>
      <p:sp>
        <p:nvSpPr>
          <p:cNvPr id="43" name="Shape 38"/>
          <p:cNvSpPr/>
          <p:nvPr/>
        </p:nvSpPr>
        <p:spPr>
          <a:xfrm>
            <a:off x="6821424" y="3200400"/>
            <a:ext cx="676656" cy="310896"/>
          </a:xfrm>
          <a:prstGeom prst="roundRect">
            <a:avLst/>
          </a:prstGeom>
          <a:solidFill>
            <a:srgbClr val="0B6BEA"/>
          </a:solidFill>
          <a:ln w="12700">
            <a:solidFill>
              <a:srgbClr val="0B6BEA">
                <a:alpha val="0"/>
              </a:srgbClr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6821424" y="3264408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已实现</a:t>
            </a:r>
            <a:endParaRPr lang="en-US" sz="1200" dirty="0"/>
          </a:p>
        </p:txBody>
      </p:sp>
      <p:sp>
        <p:nvSpPr>
          <p:cNvPr id="45" name="Shape 40"/>
          <p:cNvSpPr/>
          <p:nvPr/>
        </p:nvSpPr>
        <p:spPr>
          <a:xfrm>
            <a:off x="713232" y="3822192"/>
            <a:ext cx="411480" cy="274320"/>
          </a:xfrm>
          <a:prstGeom prst="roundRect">
            <a:avLst/>
          </a:prstGeom>
          <a:solidFill>
            <a:srgbClr val="FF9B28"/>
          </a:solidFill>
          <a:ln w="6350">
            <a:solidFill>
              <a:srgbClr val="FF9B28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713232" y="387248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000" dirty="0"/>
          </a:p>
        </p:txBody>
      </p:sp>
      <p:sp>
        <p:nvSpPr>
          <p:cNvPr id="47" name="Text 42"/>
          <p:cNvSpPr/>
          <p:nvPr/>
        </p:nvSpPr>
        <p:spPr>
          <a:xfrm>
            <a:off x="1335024" y="383133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曲道冲锋</a:t>
            </a:r>
            <a:endParaRPr lang="en-US" sz="1250" dirty="0"/>
          </a:p>
        </p:txBody>
      </p:sp>
      <p:sp>
        <p:nvSpPr>
          <p:cNvPr id="48" name="Text 43"/>
          <p:cNvSpPr/>
          <p:nvPr/>
        </p:nvSpPr>
        <p:spPr>
          <a:xfrm>
            <a:off x="2752344" y="3849624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7F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地面相机 + PID直道修正</a:t>
            </a:r>
            <a:endParaRPr lang="en-US" sz="1150" dirty="0"/>
          </a:p>
        </p:txBody>
      </p:sp>
      <p:sp>
        <p:nvSpPr>
          <p:cNvPr id="49" name="Shape 44"/>
          <p:cNvSpPr/>
          <p:nvPr/>
        </p:nvSpPr>
        <p:spPr>
          <a:xfrm>
            <a:off x="6821424" y="3794760"/>
            <a:ext cx="676656" cy="310896"/>
          </a:xfrm>
          <a:prstGeom prst="roundRect">
            <a:avLst/>
          </a:prstGeom>
          <a:solidFill>
            <a:srgbClr val="0B6BEA"/>
          </a:solidFill>
          <a:ln w="12700">
            <a:solidFill>
              <a:srgbClr val="0B6BEA">
                <a:alpha val="0"/>
              </a:srgbClr>
            </a:solidFill>
            <a:prstDash val="solid"/>
          </a:ln>
        </p:spPr>
      </p:sp>
      <p:sp>
        <p:nvSpPr>
          <p:cNvPr id="50" name="Text 45"/>
          <p:cNvSpPr/>
          <p:nvPr/>
        </p:nvSpPr>
        <p:spPr>
          <a:xfrm>
            <a:off x="6821424" y="3858768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已实现</a:t>
            </a:r>
            <a:endParaRPr lang="en-US" sz="1200" dirty="0"/>
          </a:p>
        </p:txBody>
      </p:sp>
      <p:sp>
        <p:nvSpPr>
          <p:cNvPr id="51" name="Shape 46"/>
          <p:cNvSpPr/>
          <p:nvPr/>
        </p:nvSpPr>
        <p:spPr>
          <a:xfrm>
            <a:off x="713232" y="4416552"/>
            <a:ext cx="411480" cy="274320"/>
          </a:xfrm>
          <a:prstGeom prst="roundRect">
            <a:avLst/>
          </a:prstGeom>
          <a:solidFill>
            <a:srgbClr val="FF9B28"/>
          </a:solidFill>
          <a:ln w="6350">
            <a:solidFill>
              <a:srgbClr val="FF9B28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713232" y="446684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000" dirty="0"/>
          </a:p>
        </p:txBody>
      </p:sp>
      <p:sp>
        <p:nvSpPr>
          <p:cNvPr id="53" name="Text 48"/>
          <p:cNvSpPr/>
          <p:nvPr/>
        </p:nvSpPr>
        <p:spPr>
          <a:xfrm>
            <a:off x="1335024" y="442569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深隧 / 低矮</a:t>
            </a:r>
            <a:endParaRPr lang="en-US" sz="1250" dirty="0"/>
          </a:p>
        </p:txBody>
      </p:sp>
      <p:sp>
        <p:nvSpPr>
          <p:cNvPr id="54" name="Text 49"/>
          <p:cNvSpPr/>
          <p:nvPr/>
        </p:nvSpPr>
        <p:spPr>
          <a:xfrm>
            <a:off x="2752344" y="4443984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7F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低重心自定义步态通过</a:t>
            </a:r>
            <a:endParaRPr lang="en-US" sz="1150" dirty="0"/>
          </a:p>
        </p:txBody>
      </p:sp>
      <p:sp>
        <p:nvSpPr>
          <p:cNvPr id="55" name="Shape 50"/>
          <p:cNvSpPr/>
          <p:nvPr/>
        </p:nvSpPr>
        <p:spPr>
          <a:xfrm>
            <a:off x="6821424" y="4389120"/>
            <a:ext cx="676656" cy="310896"/>
          </a:xfrm>
          <a:prstGeom prst="roundRect">
            <a:avLst/>
          </a:prstGeom>
          <a:solidFill>
            <a:srgbClr val="0B6BEA"/>
          </a:solidFill>
          <a:ln w="12700">
            <a:solidFill>
              <a:srgbClr val="0B6BEA">
                <a:alpha val="0"/>
              </a:srgbClr>
            </a:solidFill>
            <a:prstDash val="solid"/>
          </a:ln>
        </p:spPr>
      </p:sp>
      <p:sp>
        <p:nvSpPr>
          <p:cNvPr id="56" name="Text 51"/>
          <p:cNvSpPr/>
          <p:nvPr/>
        </p:nvSpPr>
        <p:spPr>
          <a:xfrm>
            <a:off x="6821424" y="4453128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已实现</a:t>
            </a:r>
            <a:endParaRPr lang="en-US" sz="1200" dirty="0"/>
          </a:p>
        </p:txBody>
      </p:sp>
      <p:sp>
        <p:nvSpPr>
          <p:cNvPr id="57" name="Shape 52"/>
          <p:cNvSpPr/>
          <p:nvPr/>
        </p:nvSpPr>
        <p:spPr>
          <a:xfrm>
            <a:off x="713232" y="5010912"/>
            <a:ext cx="411480" cy="274320"/>
          </a:xfrm>
          <a:prstGeom prst="roundRect">
            <a:avLst/>
          </a:prstGeom>
          <a:solidFill>
            <a:srgbClr val="FF9B28"/>
          </a:solidFill>
          <a:ln w="6350">
            <a:solidFill>
              <a:srgbClr val="FF9B28"/>
            </a:solidFill>
            <a:prstDash val="solid"/>
          </a:ln>
        </p:spPr>
      </p:sp>
      <p:sp>
        <p:nvSpPr>
          <p:cNvPr id="58" name="Text 53"/>
          <p:cNvSpPr/>
          <p:nvPr/>
        </p:nvSpPr>
        <p:spPr>
          <a:xfrm>
            <a:off x="713232" y="506120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1000" dirty="0"/>
          </a:p>
        </p:txBody>
      </p:sp>
      <p:sp>
        <p:nvSpPr>
          <p:cNvPr id="59" name="Text 54"/>
          <p:cNvSpPr/>
          <p:nvPr/>
        </p:nvSpPr>
        <p:spPr>
          <a:xfrm>
            <a:off x="1335024" y="502005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孤梁稳渡</a:t>
            </a:r>
            <a:endParaRPr lang="en-US" sz="1250" dirty="0"/>
          </a:p>
        </p:txBody>
      </p:sp>
      <p:sp>
        <p:nvSpPr>
          <p:cNvPr id="60" name="Text 55"/>
          <p:cNvSpPr/>
          <p:nvPr/>
        </p:nvSpPr>
        <p:spPr>
          <a:xfrm>
            <a:off x="2752344" y="5038344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7F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方向校正后跳跃，触发逻辑待联调</a:t>
            </a:r>
            <a:endParaRPr lang="en-US" sz="1150" dirty="0"/>
          </a:p>
        </p:txBody>
      </p:sp>
      <p:sp>
        <p:nvSpPr>
          <p:cNvPr id="61" name="Shape 56"/>
          <p:cNvSpPr/>
          <p:nvPr/>
        </p:nvSpPr>
        <p:spPr>
          <a:xfrm>
            <a:off x="6821424" y="4983480"/>
            <a:ext cx="676656" cy="310896"/>
          </a:xfrm>
          <a:prstGeom prst="roundRect">
            <a:avLst/>
          </a:prstGeom>
          <a:solidFill>
            <a:srgbClr val="5F6A7A"/>
          </a:solidFill>
          <a:ln w="12700">
            <a:solidFill>
              <a:srgbClr val="5F6A7A">
                <a:alpha val="0"/>
              </a:srgbClr>
            </a:solidFill>
            <a:prstDash val="solid"/>
          </a:ln>
        </p:spPr>
      </p:sp>
      <p:sp>
        <p:nvSpPr>
          <p:cNvPr id="62" name="Text 57"/>
          <p:cNvSpPr/>
          <p:nvPr/>
        </p:nvSpPr>
        <p:spPr>
          <a:xfrm>
            <a:off x="6821424" y="5047488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待联调</a:t>
            </a:r>
            <a:endParaRPr lang="en-US" sz="1200" dirty="0"/>
          </a:p>
        </p:txBody>
      </p:sp>
      <p:sp>
        <p:nvSpPr>
          <p:cNvPr id="63" name="Shape 58"/>
          <p:cNvSpPr/>
          <p:nvPr/>
        </p:nvSpPr>
        <p:spPr>
          <a:xfrm>
            <a:off x="713232" y="5605272"/>
            <a:ext cx="411480" cy="274320"/>
          </a:xfrm>
          <a:prstGeom prst="roundRect">
            <a:avLst/>
          </a:prstGeom>
          <a:solidFill>
            <a:srgbClr val="FF9B28"/>
          </a:solidFill>
          <a:ln w="6350">
            <a:solidFill>
              <a:srgbClr val="FF9B28"/>
            </a:solidFill>
            <a:prstDash val="solid"/>
          </a:ln>
        </p:spPr>
      </p:sp>
      <p:sp>
        <p:nvSpPr>
          <p:cNvPr id="64" name="Text 59"/>
          <p:cNvSpPr/>
          <p:nvPr/>
        </p:nvSpPr>
        <p:spPr>
          <a:xfrm>
            <a:off x="713232" y="565556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1000" dirty="0"/>
          </a:p>
        </p:txBody>
      </p:sp>
      <p:sp>
        <p:nvSpPr>
          <p:cNvPr id="65" name="Text 60"/>
          <p:cNvSpPr/>
          <p:nvPr/>
        </p:nvSpPr>
        <p:spPr>
          <a:xfrm>
            <a:off x="1335024" y="561441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撷金建功</a:t>
            </a:r>
            <a:endParaRPr lang="en-US" sz="1250" dirty="0"/>
          </a:p>
        </p:txBody>
      </p:sp>
      <p:sp>
        <p:nvSpPr>
          <p:cNvPr id="66" name="Text 61"/>
          <p:cNvSpPr/>
          <p:nvPr/>
        </p:nvSpPr>
        <p:spPr>
          <a:xfrm>
            <a:off x="2752344" y="5632704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7F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足球识别 / 踢出 / 终点趴下</a:t>
            </a:r>
            <a:endParaRPr lang="en-US" sz="1150" dirty="0"/>
          </a:p>
        </p:txBody>
      </p:sp>
      <p:sp>
        <p:nvSpPr>
          <p:cNvPr id="67" name="Shape 62"/>
          <p:cNvSpPr/>
          <p:nvPr/>
        </p:nvSpPr>
        <p:spPr>
          <a:xfrm>
            <a:off x="6821424" y="5577840"/>
            <a:ext cx="676656" cy="310896"/>
          </a:xfrm>
          <a:prstGeom prst="roundRect">
            <a:avLst/>
          </a:prstGeom>
          <a:solidFill>
            <a:srgbClr val="FF9B28"/>
          </a:solidFill>
          <a:ln w="12700">
            <a:solidFill>
              <a:srgbClr val="FF9B28">
                <a:alpha val="0"/>
              </a:srgbClr>
            </a:solidFill>
            <a:prstDash val="solid"/>
          </a:ln>
        </p:spPr>
      </p:sp>
      <p:sp>
        <p:nvSpPr>
          <p:cNvPr id="68" name="Text 63"/>
          <p:cNvSpPr/>
          <p:nvPr/>
        </p:nvSpPr>
        <p:spPr>
          <a:xfrm>
            <a:off x="6821424" y="5641848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扩展项</a:t>
            </a:r>
            <a:endParaRPr lang="en-US" sz="1200" dirty="0"/>
          </a:p>
        </p:txBody>
      </p:sp>
      <p:sp>
        <p:nvSpPr>
          <p:cNvPr id="69" name="Shape 64"/>
          <p:cNvSpPr/>
          <p:nvPr/>
        </p:nvSpPr>
        <p:spPr>
          <a:xfrm>
            <a:off x="8183880" y="1965960"/>
            <a:ext cx="3429000" cy="4069080"/>
          </a:xfrm>
          <a:prstGeom prst="roundRect">
            <a:avLst>
              <a:gd name="adj" fmla="val 2133"/>
            </a:avLst>
          </a:prstGeom>
          <a:solidFill>
            <a:srgbClr val="071D36">
              <a:alpha val="92000"/>
            </a:srgbClr>
          </a:solidFill>
          <a:ln w="11430">
            <a:solidFill>
              <a:srgbClr val="2EA7FF">
                <a:alpha val="88000"/>
              </a:srgbClr>
            </a:solidFill>
            <a:prstDash val="solid"/>
          </a:ln>
        </p:spPr>
      </p:sp>
      <p:sp>
        <p:nvSpPr>
          <p:cNvPr id="70" name="Shape 65"/>
          <p:cNvSpPr/>
          <p:nvPr/>
        </p:nvSpPr>
        <p:spPr>
          <a:xfrm>
            <a:off x="8275320" y="2121408"/>
            <a:ext cx="36576" cy="237744"/>
          </a:xfrm>
          <a:prstGeom prst="rect">
            <a:avLst/>
          </a:prstGeom>
          <a:solidFill>
            <a:srgbClr val="FF9B28"/>
          </a:solidFill>
          <a:ln w="12700">
            <a:solidFill>
              <a:srgbClr val="FF9B28"/>
            </a:solidFill>
            <a:prstDash val="solid"/>
          </a:ln>
        </p:spPr>
      </p:sp>
      <p:sp>
        <p:nvSpPr>
          <p:cNvPr id="71" name="Text 66"/>
          <p:cNvSpPr/>
          <p:nvPr/>
        </p:nvSpPr>
        <p:spPr>
          <a:xfrm>
            <a:off x="8412480" y="204825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 / 后续方向</a:t>
            </a:r>
            <a:endParaRPr lang="en-US" sz="1500" dirty="0"/>
          </a:p>
        </p:txBody>
      </p:sp>
      <p:sp>
        <p:nvSpPr>
          <p:cNvPr id="72" name="Shape 67"/>
          <p:cNvSpPr/>
          <p:nvPr/>
        </p:nvSpPr>
        <p:spPr>
          <a:xfrm>
            <a:off x="8366760" y="2514600"/>
            <a:ext cx="2971800" cy="566928"/>
          </a:xfrm>
          <a:prstGeom prst="roundRect">
            <a:avLst/>
          </a:prstGeom>
          <a:solidFill>
            <a:srgbClr val="0A2746"/>
          </a:solidFill>
          <a:ln w="8255">
            <a:solidFill>
              <a:srgbClr val="2EA7FF"/>
            </a:solidFill>
            <a:prstDash val="solid"/>
          </a:ln>
        </p:spPr>
      </p:sp>
      <p:pic>
        <p:nvPicPr>
          <p:cNvPr id="7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03920" y="2615184"/>
            <a:ext cx="347472" cy="347472"/>
          </a:xfrm>
          <a:prstGeom prst="rect">
            <a:avLst/>
          </a:prstGeom>
        </p:spPr>
      </p:pic>
      <p:sp>
        <p:nvSpPr>
          <p:cNvPr id="74" name="Text 68"/>
          <p:cNvSpPr/>
          <p:nvPr/>
        </p:nvSpPr>
        <p:spPr>
          <a:xfrm>
            <a:off x="9034272" y="2679192"/>
            <a:ext cx="2057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7F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已具备多相机感知能力</a:t>
            </a:r>
            <a:endParaRPr lang="en-US" sz="1250" dirty="0"/>
          </a:p>
        </p:txBody>
      </p:sp>
      <p:sp>
        <p:nvSpPr>
          <p:cNvPr id="75" name="Shape 69"/>
          <p:cNvSpPr/>
          <p:nvPr/>
        </p:nvSpPr>
        <p:spPr>
          <a:xfrm>
            <a:off x="8366760" y="3264408"/>
            <a:ext cx="2971800" cy="566928"/>
          </a:xfrm>
          <a:prstGeom prst="roundRect">
            <a:avLst/>
          </a:prstGeom>
          <a:solidFill>
            <a:srgbClr val="0A2746"/>
          </a:solidFill>
          <a:ln w="8255">
            <a:solidFill>
              <a:srgbClr val="2EA7FF"/>
            </a:solidFill>
            <a:prstDash val="solid"/>
          </a:ln>
        </p:spPr>
      </p:sp>
      <p:pic>
        <p:nvPicPr>
          <p:cNvPr id="7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503920" y="3364992"/>
            <a:ext cx="347472" cy="347472"/>
          </a:xfrm>
          <a:prstGeom prst="rect">
            <a:avLst/>
          </a:prstGeom>
        </p:spPr>
      </p:pic>
      <p:sp>
        <p:nvSpPr>
          <p:cNvPr id="77" name="Text 70"/>
          <p:cNvSpPr/>
          <p:nvPr/>
        </p:nvSpPr>
        <p:spPr>
          <a:xfrm>
            <a:off x="9034272" y="3429000"/>
            <a:ext cx="2057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7F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已形成 PID + LCM 控制闭环</a:t>
            </a:r>
            <a:endParaRPr lang="en-US" sz="1250" dirty="0"/>
          </a:p>
        </p:txBody>
      </p:sp>
      <p:sp>
        <p:nvSpPr>
          <p:cNvPr id="78" name="Shape 71"/>
          <p:cNvSpPr/>
          <p:nvPr/>
        </p:nvSpPr>
        <p:spPr>
          <a:xfrm>
            <a:off x="8366760" y="4014216"/>
            <a:ext cx="2971800" cy="566928"/>
          </a:xfrm>
          <a:prstGeom prst="roundRect">
            <a:avLst/>
          </a:prstGeom>
          <a:solidFill>
            <a:srgbClr val="0A2746"/>
          </a:solidFill>
          <a:ln w="8255">
            <a:solidFill>
              <a:srgbClr val="2EA7FF"/>
            </a:solidFill>
            <a:prstDash val="solid"/>
          </a:ln>
        </p:spPr>
      </p:sp>
      <p:pic>
        <p:nvPicPr>
          <p:cNvPr id="7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503920" y="4114800"/>
            <a:ext cx="347472" cy="347472"/>
          </a:xfrm>
          <a:prstGeom prst="rect">
            <a:avLst/>
          </a:prstGeom>
        </p:spPr>
      </p:pic>
      <p:sp>
        <p:nvSpPr>
          <p:cNvPr id="80" name="Text 72"/>
          <p:cNvSpPr/>
          <p:nvPr/>
        </p:nvSpPr>
        <p:spPr>
          <a:xfrm>
            <a:off x="9034272" y="4178808"/>
            <a:ext cx="2057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7F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后续聚焦完整赛段联调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7F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与工程鲁棒性提升</a:t>
            </a:r>
            <a:endParaRPr lang="en-US" sz="1250" dirty="0"/>
          </a:p>
        </p:txBody>
      </p:sp>
      <p:sp>
        <p:nvSpPr>
          <p:cNvPr id="81" name="Shape 73"/>
          <p:cNvSpPr/>
          <p:nvPr/>
        </p:nvSpPr>
        <p:spPr>
          <a:xfrm>
            <a:off x="8366760" y="4919472"/>
            <a:ext cx="2971800" cy="804672"/>
          </a:xfrm>
          <a:prstGeom prst="roundRect">
            <a:avLst/>
          </a:prstGeom>
          <a:solidFill>
            <a:srgbClr val="0A2746">
              <a:alpha val="1000"/>
            </a:srgbClr>
          </a:solidFill>
          <a:ln w="8890">
            <a:solidFill>
              <a:srgbClr val="FF9B28"/>
            </a:solidFill>
            <a:prstDash val="solid"/>
          </a:ln>
        </p:spPr>
      </p:sp>
      <p:pic>
        <p:nvPicPr>
          <p:cNvPr id="82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485632" y="5047488"/>
            <a:ext cx="320040" cy="320040"/>
          </a:xfrm>
          <a:prstGeom prst="rect">
            <a:avLst/>
          </a:prstGeom>
        </p:spPr>
      </p:pic>
      <p:sp>
        <p:nvSpPr>
          <p:cNvPr id="83" name="Text 74"/>
          <p:cNvSpPr/>
          <p:nvPr/>
        </p:nvSpPr>
        <p:spPr>
          <a:xfrm>
            <a:off x="8887968" y="499262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9B2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工程优化</a:t>
            </a:r>
            <a:endParaRPr lang="en-US" sz="1250" dirty="0"/>
          </a:p>
        </p:txBody>
      </p:sp>
      <p:pic>
        <p:nvPicPr>
          <p:cNvPr id="84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823960" y="5230368"/>
            <a:ext cx="228600" cy="228600"/>
          </a:xfrm>
          <a:prstGeom prst="rect">
            <a:avLst/>
          </a:prstGeom>
        </p:spPr>
      </p:pic>
      <p:sp>
        <p:nvSpPr>
          <p:cNvPr id="85" name="Text 75"/>
          <p:cNvSpPr/>
          <p:nvPr/>
        </p:nvSpPr>
        <p:spPr>
          <a:xfrm>
            <a:off x="8659368" y="5522976"/>
            <a:ext cx="7498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E7F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参数配置化</a:t>
            </a:r>
            <a:endParaRPr lang="en-US" sz="780" dirty="0"/>
          </a:p>
        </p:txBody>
      </p:sp>
      <p:sp>
        <p:nvSpPr>
          <p:cNvPr id="86" name="Shape 76"/>
          <p:cNvSpPr/>
          <p:nvPr/>
        </p:nvSpPr>
        <p:spPr>
          <a:xfrm>
            <a:off x="9500616" y="5230368"/>
            <a:ext cx="0" cy="384048"/>
          </a:xfrm>
          <a:prstGeom prst="line">
            <a:avLst/>
          </a:prstGeom>
          <a:noFill/>
          <a:ln w="7620">
            <a:solidFill>
              <a:srgbClr val="13466E"/>
            </a:solidFill>
            <a:prstDash val="solid"/>
          </a:ln>
        </p:spPr>
      </p:sp>
      <p:pic>
        <p:nvPicPr>
          <p:cNvPr id="87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601200" y="5230368"/>
            <a:ext cx="228600" cy="228600"/>
          </a:xfrm>
          <a:prstGeom prst="rect">
            <a:avLst/>
          </a:prstGeom>
        </p:spPr>
      </p:pic>
      <p:sp>
        <p:nvSpPr>
          <p:cNvPr id="88" name="Text 77"/>
          <p:cNvSpPr/>
          <p:nvPr/>
        </p:nvSpPr>
        <p:spPr>
          <a:xfrm>
            <a:off x="9436608" y="5522976"/>
            <a:ext cx="7498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E7F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日志记录</a:t>
            </a:r>
            <a:endParaRPr lang="en-US" sz="780" dirty="0"/>
          </a:p>
        </p:txBody>
      </p:sp>
      <p:sp>
        <p:nvSpPr>
          <p:cNvPr id="89" name="Shape 78"/>
          <p:cNvSpPr/>
          <p:nvPr/>
        </p:nvSpPr>
        <p:spPr>
          <a:xfrm>
            <a:off x="10277856" y="5230368"/>
            <a:ext cx="0" cy="384048"/>
          </a:xfrm>
          <a:prstGeom prst="line">
            <a:avLst/>
          </a:prstGeom>
          <a:noFill/>
          <a:ln w="7620">
            <a:solidFill>
              <a:srgbClr val="13466E"/>
            </a:solidFill>
            <a:prstDash val="solid"/>
          </a:ln>
        </p:spPr>
      </p:sp>
      <p:pic>
        <p:nvPicPr>
          <p:cNvPr id="90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378440" y="5230368"/>
            <a:ext cx="228600" cy="228600"/>
          </a:xfrm>
          <a:prstGeom prst="rect">
            <a:avLst/>
          </a:prstGeom>
        </p:spPr>
      </p:pic>
      <p:sp>
        <p:nvSpPr>
          <p:cNvPr id="91" name="Text 79"/>
          <p:cNvSpPr/>
          <p:nvPr/>
        </p:nvSpPr>
        <p:spPr>
          <a:xfrm>
            <a:off x="10213848" y="5522976"/>
            <a:ext cx="7498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E7F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离线图像测试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Cyberdog Demo 自主运行技术方案</dc:title>
  <dc:subject>Cyberdog Demo editable presentation</dc:subject>
  <dc:creator>OpenAI</dc:creator>
  <cp:lastModifiedBy>OpenAI</cp:lastModifiedBy>
  <cp:revision>1</cp:revision>
  <dcterms:created xsi:type="dcterms:W3CDTF">2026-05-31T09:59:32Z</dcterms:created>
  <dcterms:modified xsi:type="dcterms:W3CDTF">2026-05-31T09:59:32Z</dcterms:modified>
</cp:coreProperties>
</file>