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3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2" r:id="rId6"/>
    <p:sldId id="261" r:id="rId7"/>
  </p:sldIdLst>
  <p:sldSz cx="12192000" cy="6858000"/>
  <p:notesSz cx="6858000" cy="9144000"/>
  <p:embeddedFontLst>
    <p:embeddedFont>
      <p:font typeface="微软雅黑" panose="020B0503020204020204" charset="-122"/>
      <p:regular r:id="rId11"/>
      <p:bold r:id="rId12"/>
    </p:embeddedFont>
    <p:embeddedFont>
      <p:font typeface="黑体" panose="02010609060101010101" charset="-122"/>
      <p:regular r:id="rId13"/>
    </p:embeddedFont>
    <p:embeddedFont>
      <p:font typeface="Calibri" panose="020F0502020204030204" charset="0"/>
      <p:regular r:id="rId14"/>
      <p:bold r:id="rId15"/>
      <p:italic r:id="rId16"/>
      <p:boldItalic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6F6F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7.xml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494" t="10765" r="24891" b="33688"/>
          <a:stretch>
            <a:fillRect/>
          </a:stretch>
        </p:blipFill>
        <p:spPr>
          <a:xfrm>
            <a:off x="-14515" y="0"/>
            <a:ext cx="12243606" cy="688702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184554" y="6434222"/>
            <a:ext cx="1582647" cy="117185"/>
            <a:chOff x="184554" y="6434222"/>
            <a:chExt cx="1582647" cy="117185"/>
          </a:xfrm>
        </p:grpSpPr>
        <p:sp>
          <p:nvSpPr>
            <p:cNvPr id="9" name="任意多边形: 形状 8"/>
            <p:cNvSpPr/>
            <p:nvPr/>
          </p:nvSpPr>
          <p:spPr>
            <a:xfrm>
              <a:off x="184554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439055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6936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9481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202124" y="6434222"/>
              <a:ext cx="55932" cy="117185"/>
            </a:xfrm>
            <a:custGeom>
              <a:avLst/>
              <a:gdLst>
                <a:gd name="connsiteX0" fmla="*/ 41522 w 55932"/>
                <a:gd name="connsiteY0" fmla="*/ -32 h 117185"/>
                <a:gd name="connsiteX1" fmla="*/ 55900 w 55932"/>
                <a:gd name="connsiteY1" fmla="*/ -32 h 117185"/>
                <a:gd name="connsiteX2" fmla="*/ 14346 w 55932"/>
                <a:gd name="connsiteY2" fmla="*/ 117153 h 117185"/>
                <a:gd name="connsiteX3" fmla="*/ -32 w 55932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32" h="117185">
                  <a:moveTo>
                    <a:pt x="41522" y="-32"/>
                  </a:moveTo>
                  <a:lnTo>
                    <a:pt x="5590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4573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7118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85872-F375-486F-AE25-DBE422A74F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388D5-8C4E-4EA5-80F5-E3874D0DEA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../media/image16.png"/><Relationship Id="rId7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tags" Target="../tags/tag2.xml"/><Relationship Id="rId4" Type="http://schemas.openxmlformats.org/officeDocument/2006/relationships/image" Target="../media/image14.png"/><Relationship Id="rId3" Type="http://schemas.openxmlformats.org/officeDocument/2006/relationships/tags" Target="../tags/tag1.xml"/><Relationship Id="rId2" Type="http://schemas.openxmlformats.org/officeDocument/2006/relationships/image" Target="../media/image13.sv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94" t="10765" r="24891" b="33688"/>
          <a:stretch>
            <a:fillRect/>
          </a:stretch>
        </p:blipFill>
        <p:spPr>
          <a:xfrm>
            <a:off x="-14515" y="0"/>
            <a:ext cx="12243606" cy="6887028"/>
          </a:xfrm>
          <a:prstGeom prst="rect">
            <a:avLst/>
          </a:prstGeom>
        </p:spPr>
      </p:pic>
      <p:grpSp>
        <p:nvGrpSpPr>
          <p:cNvPr id="100" name="组合 99"/>
          <p:cNvGrpSpPr/>
          <p:nvPr/>
        </p:nvGrpSpPr>
        <p:grpSpPr>
          <a:xfrm>
            <a:off x="8516060" y="396095"/>
            <a:ext cx="1802926" cy="9489"/>
            <a:chOff x="8516060" y="396095"/>
            <a:chExt cx="1802926" cy="9489"/>
          </a:xfrm>
        </p:grpSpPr>
        <p:sp>
          <p:nvSpPr>
            <p:cNvPr id="28" name="任意多边形: 形状 27"/>
            <p:cNvSpPr/>
            <p:nvPr/>
          </p:nvSpPr>
          <p:spPr>
            <a:xfrm>
              <a:off x="8516060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11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11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57831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8640291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8702550" y="396095"/>
              <a:ext cx="62690" cy="9489"/>
            </a:xfrm>
            <a:custGeom>
              <a:avLst/>
              <a:gdLst>
                <a:gd name="connsiteX0" fmla="*/ -32 w 62690"/>
                <a:gd name="connsiteY0" fmla="*/ -32 h 9489"/>
                <a:gd name="connsiteX1" fmla="*/ 62658 w 62690"/>
                <a:gd name="connsiteY1" fmla="*/ -32 h 9489"/>
                <a:gd name="connsiteX2" fmla="*/ 62658 w 62690"/>
                <a:gd name="connsiteY2" fmla="*/ 9458 h 9489"/>
                <a:gd name="connsiteX3" fmla="*/ 543 w 62690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0" h="9489">
                  <a:moveTo>
                    <a:pt x="-32" y="-32"/>
                  </a:moveTo>
                  <a:lnTo>
                    <a:pt x="62658" y="-32"/>
                  </a:lnTo>
                  <a:lnTo>
                    <a:pt x="62658" y="9458"/>
                  </a:lnTo>
                  <a:lnTo>
                    <a:pt x="543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8765241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882692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8889040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8951155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901341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9075530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9137645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919990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926201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9324279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938639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9448509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9510768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9572883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63499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9697258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9759374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9821489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9883747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9945863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0008122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10070238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0132353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0194612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0256727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10470824" y="291276"/>
            <a:ext cx="1582503" cy="117185"/>
            <a:chOff x="10470824" y="291276"/>
            <a:chExt cx="1582503" cy="11718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10470824" y="291276"/>
              <a:ext cx="55500" cy="117185"/>
            </a:xfrm>
            <a:custGeom>
              <a:avLst/>
              <a:gdLst>
                <a:gd name="connsiteX0" fmla="*/ 41090 w 55500"/>
                <a:gd name="connsiteY0" fmla="*/ -32 h 117185"/>
                <a:gd name="connsiteX1" fmla="*/ 55469 w 55500"/>
                <a:gd name="connsiteY1" fmla="*/ -32 h 117185"/>
                <a:gd name="connsiteX2" fmla="*/ 14346 w 55500"/>
                <a:gd name="connsiteY2" fmla="*/ 117153 h 117185"/>
                <a:gd name="connsiteX3" fmla="*/ -32 w 55500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0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725324" y="291276"/>
              <a:ext cx="55500" cy="117185"/>
            </a:xfrm>
            <a:custGeom>
              <a:avLst/>
              <a:gdLst>
                <a:gd name="connsiteX0" fmla="*/ 41090 w 55500"/>
                <a:gd name="connsiteY0" fmla="*/ -32 h 117185"/>
                <a:gd name="connsiteX1" fmla="*/ 55469 w 55500"/>
                <a:gd name="connsiteY1" fmla="*/ -32 h 117185"/>
                <a:gd name="connsiteX2" fmla="*/ 14346 w 55500"/>
                <a:gd name="connsiteY2" fmla="*/ 117153 h 117185"/>
                <a:gd name="connsiteX3" fmla="*/ -32 w 55500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0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10979537" y="291276"/>
              <a:ext cx="55788" cy="117185"/>
            </a:xfrm>
            <a:custGeom>
              <a:avLst/>
              <a:gdLst>
                <a:gd name="connsiteX0" fmla="*/ 41378 w 55788"/>
                <a:gd name="connsiteY0" fmla="*/ -32 h 117185"/>
                <a:gd name="connsiteX1" fmla="*/ 55757 w 55788"/>
                <a:gd name="connsiteY1" fmla="*/ -32 h 117185"/>
                <a:gd name="connsiteX2" fmla="*/ 14346 w 55788"/>
                <a:gd name="connsiteY2" fmla="*/ 117153 h 117185"/>
                <a:gd name="connsiteX3" fmla="*/ -32 w 55788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88" h="117185">
                  <a:moveTo>
                    <a:pt x="41378" y="-32"/>
                  </a:moveTo>
                  <a:lnTo>
                    <a:pt x="55757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11234324" y="291276"/>
              <a:ext cx="55501" cy="117185"/>
            </a:xfrm>
            <a:custGeom>
              <a:avLst/>
              <a:gdLst>
                <a:gd name="connsiteX0" fmla="*/ 41091 w 55501"/>
                <a:gd name="connsiteY0" fmla="*/ -32 h 117185"/>
                <a:gd name="connsiteX1" fmla="*/ 55470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1" y="-32"/>
                  </a:moveTo>
                  <a:lnTo>
                    <a:pt x="5547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11488969" y="291276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6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6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11743757" y="291276"/>
              <a:ext cx="55357" cy="117185"/>
            </a:xfrm>
            <a:custGeom>
              <a:avLst/>
              <a:gdLst>
                <a:gd name="connsiteX0" fmla="*/ 40946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6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11997970" y="291276"/>
              <a:ext cx="55357" cy="117185"/>
            </a:xfrm>
            <a:custGeom>
              <a:avLst/>
              <a:gdLst>
                <a:gd name="connsiteX0" fmla="*/ 40946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6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184554" y="6434222"/>
            <a:ext cx="1582647" cy="117185"/>
            <a:chOff x="184554" y="6434222"/>
            <a:chExt cx="1582647" cy="117185"/>
          </a:xfrm>
        </p:grpSpPr>
        <p:sp>
          <p:nvSpPr>
            <p:cNvPr id="64" name="任意多边形: 形状 63"/>
            <p:cNvSpPr/>
            <p:nvPr/>
          </p:nvSpPr>
          <p:spPr>
            <a:xfrm>
              <a:off x="184554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439055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936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9481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1202124" y="6434222"/>
              <a:ext cx="55932" cy="117185"/>
            </a:xfrm>
            <a:custGeom>
              <a:avLst/>
              <a:gdLst>
                <a:gd name="connsiteX0" fmla="*/ 41522 w 55932"/>
                <a:gd name="connsiteY0" fmla="*/ -32 h 117185"/>
                <a:gd name="connsiteX1" fmla="*/ 55900 w 55932"/>
                <a:gd name="connsiteY1" fmla="*/ -32 h 117185"/>
                <a:gd name="connsiteX2" fmla="*/ 14346 w 55932"/>
                <a:gd name="connsiteY2" fmla="*/ 117153 h 117185"/>
                <a:gd name="connsiteX3" fmla="*/ -32 w 55932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32" h="117185">
                  <a:moveTo>
                    <a:pt x="41522" y="-32"/>
                  </a:moveTo>
                  <a:lnTo>
                    <a:pt x="5590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14573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17118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1969939" y="6538898"/>
            <a:ext cx="1802926" cy="9489"/>
            <a:chOff x="1969939" y="6538898"/>
            <a:chExt cx="1802926" cy="9489"/>
          </a:xfrm>
        </p:grpSpPr>
        <p:sp>
          <p:nvSpPr>
            <p:cNvPr id="71" name="任意多边形: 形状 70"/>
            <p:cNvSpPr/>
            <p:nvPr/>
          </p:nvSpPr>
          <p:spPr>
            <a:xfrm>
              <a:off x="1969939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032198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094313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15642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2218688" y="6538898"/>
              <a:ext cx="61827" cy="9489"/>
            </a:xfrm>
            <a:custGeom>
              <a:avLst/>
              <a:gdLst>
                <a:gd name="connsiteX0" fmla="*/ -32 w 61827"/>
                <a:gd name="connsiteY0" fmla="*/ -32 h 9489"/>
                <a:gd name="connsiteX1" fmla="*/ 61796 w 61827"/>
                <a:gd name="connsiteY1" fmla="*/ -32 h 9489"/>
                <a:gd name="connsiteX2" fmla="*/ 61796 w 61827"/>
                <a:gd name="connsiteY2" fmla="*/ 9458 h 9489"/>
                <a:gd name="connsiteX3" fmla="*/ -32 w 61827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27" h="9489">
                  <a:moveTo>
                    <a:pt x="-32" y="-32"/>
                  </a:moveTo>
                  <a:lnTo>
                    <a:pt x="61796" y="-32"/>
                  </a:lnTo>
                  <a:lnTo>
                    <a:pt x="6179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2280515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234291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240517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111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111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246743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252940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2591667" y="6538898"/>
              <a:ext cx="62690" cy="9489"/>
            </a:xfrm>
            <a:custGeom>
              <a:avLst/>
              <a:gdLst>
                <a:gd name="connsiteX0" fmla="*/ -32 w 62690"/>
                <a:gd name="connsiteY0" fmla="*/ -32 h 9489"/>
                <a:gd name="connsiteX1" fmla="*/ 62658 w 62690"/>
                <a:gd name="connsiteY1" fmla="*/ -32 h 9489"/>
                <a:gd name="connsiteX2" fmla="*/ 62658 w 62690"/>
                <a:gd name="connsiteY2" fmla="*/ 9458 h 9489"/>
                <a:gd name="connsiteX3" fmla="*/ 543 w 62690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0" h="9489">
                  <a:moveTo>
                    <a:pt x="-32" y="-32"/>
                  </a:moveTo>
                  <a:lnTo>
                    <a:pt x="62658" y="-32"/>
                  </a:lnTo>
                  <a:lnTo>
                    <a:pt x="62658" y="9458"/>
                  </a:lnTo>
                  <a:lnTo>
                    <a:pt x="543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265435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2716042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277815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2840272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2902531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296464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3026762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3089021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315113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3213396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3275511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3337626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3399885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3462001" y="6538898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7 w 62258"/>
                <a:gd name="connsiteY1" fmla="*/ -32 h 9489"/>
                <a:gd name="connsiteX2" fmla="*/ 62227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3524116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3586375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3648491" y="6538898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7 w 62258"/>
                <a:gd name="connsiteY1" fmla="*/ -32 h 9489"/>
                <a:gd name="connsiteX2" fmla="*/ 62227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3710750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240030" y="1526540"/>
            <a:ext cx="11757025" cy="2505075"/>
          </a:xfrm>
          <a:prstGeom prst="rect">
            <a:avLst/>
          </a:prstGeom>
          <a:noFill/>
          <a:ln w="15875"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62626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618416" y="5749471"/>
            <a:ext cx="4955167" cy="366053"/>
            <a:chOff x="3509386" y="5704945"/>
            <a:chExt cx="4955167" cy="366053"/>
          </a:xfrm>
        </p:grpSpPr>
        <p:sp>
          <p:nvSpPr>
            <p:cNvPr id="22" name="矩形: 圆角 21"/>
            <p:cNvSpPr/>
            <p:nvPr/>
          </p:nvSpPr>
          <p:spPr>
            <a:xfrm>
              <a:off x="3509386" y="5704945"/>
              <a:ext cx="2263775" cy="366053"/>
            </a:xfrm>
            <a:prstGeom prst="roundRect">
              <a:avLst>
                <a:gd name="adj" fmla="val 50000"/>
              </a:avLst>
            </a:prstGeom>
            <a:solidFill>
              <a:srgbClr val="25252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120" dirty="0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3" name="箭头: 左右 22"/>
            <p:cNvSpPr/>
            <p:nvPr/>
          </p:nvSpPr>
          <p:spPr>
            <a:xfrm>
              <a:off x="3602096" y="5724630"/>
              <a:ext cx="2171065" cy="326390"/>
            </a:xfrm>
            <a:prstGeom prst="leftRightArrow">
              <a:avLst>
                <a:gd name="adj1" fmla="val 100000"/>
                <a:gd name="adj2" fmla="val 50000"/>
              </a:avLst>
            </a:prstGeom>
            <a:noFill/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队伍：吉祥三宝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箭头: 左右 23"/>
            <p:cNvSpPr/>
            <p:nvPr/>
          </p:nvSpPr>
          <p:spPr>
            <a:xfrm>
              <a:off x="6389690" y="5724829"/>
              <a:ext cx="1885950" cy="326285"/>
            </a:xfrm>
            <a:prstGeom prst="leftRightArrow">
              <a:avLst>
                <a:gd name="adj1" fmla="val 100000"/>
                <a:gd name="adj2" fmla="val 50000"/>
              </a:avLst>
            </a:prstGeom>
            <a:noFill/>
            <a:ln w="222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252525"/>
                  </a:solidFill>
                </a:rPr>
                <a:t>时间：</a:t>
              </a:r>
              <a:r>
                <a:rPr lang="en-US" altLang="zh-CN" dirty="0">
                  <a:solidFill>
                    <a:srgbClr val="252525"/>
                  </a:solidFill>
                </a:rPr>
                <a:t>2026.5</a:t>
              </a:r>
              <a:endParaRPr lang="zh-CN" altLang="en-US" dirty="0">
                <a:solidFill>
                  <a:srgbClr val="252525"/>
                </a:solidFill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6200778" y="5704945"/>
              <a:ext cx="2263775" cy="36605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626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pc="120" dirty="0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61950" y="1688465"/>
            <a:ext cx="11436985" cy="1740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ctr" fontAlgn="ctr">
              <a:lnSpc>
                <a:spcPct val="150000"/>
              </a:lnSpc>
            </a:pPr>
            <a:r>
              <a:rPr lang="en-US" altLang="zh-CN" sz="4400" b="1" dirty="0">
                <a:ln w="6350">
                  <a:solidFill>
                    <a:schemeClr val="accent1">
                      <a:alpha val="40000"/>
                    </a:schemeClr>
                  </a:solidFill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</a:t>
            </a:r>
            <a:r>
              <a:rPr lang="zh-CN" altLang="en-US" sz="4400" b="1" dirty="0">
                <a:ln w="6350">
                  <a:solidFill>
                    <a:schemeClr val="accent1">
                      <a:alpha val="40000"/>
                    </a:schemeClr>
                  </a:solidFill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年全国大学生计算机系统能力大赛</a:t>
            </a:r>
            <a:endParaRPr lang="zh-CN" altLang="en-US" sz="4400" b="1" dirty="0">
              <a:ln w="6350">
                <a:solidFill>
                  <a:schemeClr val="accent1">
                    <a:alpha val="40000"/>
                  </a:schemeClr>
                </a:solidFill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r" fontAlgn="ctr">
              <a:lnSpc>
                <a:spcPct val="150000"/>
              </a:lnSpc>
            </a:pPr>
            <a:r>
              <a:rPr lang="en-US" altLang="zh-CN" sz="4400" b="1" dirty="0">
                <a:ln w="6350">
                  <a:solidFill>
                    <a:schemeClr val="accent1">
                      <a:alpha val="40000"/>
                    </a:schemeClr>
                  </a:solidFill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4400" b="1" dirty="0">
                <a:ln w="6350">
                  <a:solidFill>
                    <a:schemeClr val="accent1">
                      <a:alpha val="40000"/>
                    </a:schemeClr>
                  </a:solidFill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智能系统创新设计比赛</a:t>
            </a:r>
            <a:endParaRPr lang="zh-CN" altLang="en-US" sz="4400" b="1" dirty="0">
              <a:ln w="6350">
                <a:solidFill>
                  <a:schemeClr val="accent1">
                    <a:alpha val="40000"/>
                  </a:schemeClr>
                </a:solidFill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88360" y="4443095"/>
            <a:ext cx="5377180" cy="478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作品说明</a:t>
            </a:r>
            <a:endParaRPr lang="en-US" altLang="zh-CN" sz="3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94" t="10765" r="31008" b="39019"/>
          <a:stretch>
            <a:fillRect/>
          </a:stretch>
        </p:blipFill>
        <p:spPr>
          <a:xfrm flipH="1">
            <a:off x="-36831" y="-1"/>
            <a:ext cx="12229091" cy="6858001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8516060" y="396095"/>
            <a:ext cx="1802926" cy="9489"/>
            <a:chOff x="8516060" y="396095"/>
            <a:chExt cx="1802926" cy="948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8516060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11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11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857831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8640291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8702550" y="396095"/>
              <a:ext cx="62690" cy="9489"/>
            </a:xfrm>
            <a:custGeom>
              <a:avLst/>
              <a:gdLst>
                <a:gd name="connsiteX0" fmla="*/ -32 w 62690"/>
                <a:gd name="connsiteY0" fmla="*/ -32 h 9489"/>
                <a:gd name="connsiteX1" fmla="*/ 62658 w 62690"/>
                <a:gd name="connsiteY1" fmla="*/ -32 h 9489"/>
                <a:gd name="connsiteX2" fmla="*/ 62658 w 62690"/>
                <a:gd name="connsiteY2" fmla="*/ 9458 h 9489"/>
                <a:gd name="connsiteX3" fmla="*/ 543 w 62690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0" h="9489">
                  <a:moveTo>
                    <a:pt x="-32" y="-32"/>
                  </a:moveTo>
                  <a:lnTo>
                    <a:pt x="62658" y="-32"/>
                  </a:lnTo>
                  <a:lnTo>
                    <a:pt x="62658" y="9458"/>
                  </a:lnTo>
                  <a:lnTo>
                    <a:pt x="543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8765241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882692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8889040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8951155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01341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075530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137645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19990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26201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324279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938639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9448509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510768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572883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63499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9697258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9759374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9821489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9883747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9945863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10008122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10070238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132353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0194612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0256727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0470824" y="291276"/>
            <a:ext cx="1582503" cy="117185"/>
            <a:chOff x="10470824" y="291276"/>
            <a:chExt cx="1582503" cy="117185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470824" y="291276"/>
              <a:ext cx="55500" cy="117185"/>
            </a:xfrm>
            <a:custGeom>
              <a:avLst/>
              <a:gdLst>
                <a:gd name="connsiteX0" fmla="*/ 41090 w 55500"/>
                <a:gd name="connsiteY0" fmla="*/ -32 h 117185"/>
                <a:gd name="connsiteX1" fmla="*/ 55469 w 55500"/>
                <a:gd name="connsiteY1" fmla="*/ -32 h 117185"/>
                <a:gd name="connsiteX2" fmla="*/ 14346 w 55500"/>
                <a:gd name="connsiteY2" fmla="*/ 117153 h 117185"/>
                <a:gd name="connsiteX3" fmla="*/ -32 w 55500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0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725324" y="291276"/>
              <a:ext cx="55500" cy="117185"/>
            </a:xfrm>
            <a:custGeom>
              <a:avLst/>
              <a:gdLst>
                <a:gd name="connsiteX0" fmla="*/ 41090 w 55500"/>
                <a:gd name="connsiteY0" fmla="*/ -32 h 117185"/>
                <a:gd name="connsiteX1" fmla="*/ 55469 w 55500"/>
                <a:gd name="connsiteY1" fmla="*/ -32 h 117185"/>
                <a:gd name="connsiteX2" fmla="*/ 14346 w 55500"/>
                <a:gd name="connsiteY2" fmla="*/ 117153 h 117185"/>
                <a:gd name="connsiteX3" fmla="*/ -32 w 55500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0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10979537" y="291276"/>
              <a:ext cx="55788" cy="117185"/>
            </a:xfrm>
            <a:custGeom>
              <a:avLst/>
              <a:gdLst>
                <a:gd name="connsiteX0" fmla="*/ 41378 w 55788"/>
                <a:gd name="connsiteY0" fmla="*/ -32 h 117185"/>
                <a:gd name="connsiteX1" fmla="*/ 55757 w 55788"/>
                <a:gd name="connsiteY1" fmla="*/ -32 h 117185"/>
                <a:gd name="connsiteX2" fmla="*/ 14346 w 55788"/>
                <a:gd name="connsiteY2" fmla="*/ 117153 h 117185"/>
                <a:gd name="connsiteX3" fmla="*/ -32 w 55788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88" h="117185">
                  <a:moveTo>
                    <a:pt x="41378" y="-32"/>
                  </a:moveTo>
                  <a:lnTo>
                    <a:pt x="55757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234324" y="291276"/>
              <a:ext cx="55501" cy="117185"/>
            </a:xfrm>
            <a:custGeom>
              <a:avLst/>
              <a:gdLst>
                <a:gd name="connsiteX0" fmla="*/ 41091 w 55501"/>
                <a:gd name="connsiteY0" fmla="*/ -32 h 117185"/>
                <a:gd name="connsiteX1" fmla="*/ 55470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1" y="-32"/>
                  </a:moveTo>
                  <a:lnTo>
                    <a:pt x="5547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1488969" y="291276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6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6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1743757" y="291276"/>
              <a:ext cx="55357" cy="117185"/>
            </a:xfrm>
            <a:custGeom>
              <a:avLst/>
              <a:gdLst>
                <a:gd name="connsiteX0" fmla="*/ 40946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6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1997970" y="291276"/>
              <a:ext cx="55357" cy="117185"/>
            </a:xfrm>
            <a:custGeom>
              <a:avLst/>
              <a:gdLst>
                <a:gd name="connsiteX0" fmla="*/ 40946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6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84554" y="6434222"/>
            <a:ext cx="1582647" cy="117185"/>
            <a:chOff x="184554" y="6434222"/>
            <a:chExt cx="1582647" cy="117185"/>
          </a:xfrm>
        </p:grpSpPr>
        <p:sp>
          <p:nvSpPr>
            <p:cNvPr id="50" name="任意多边形: 形状 49"/>
            <p:cNvSpPr/>
            <p:nvPr/>
          </p:nvSpPr>
          <p:spPr>
            <a:xfrm>
              <a:off x="184554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439055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6936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9481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202124" y="6434222"/>
              <a:ext cx="55932" cy="117185"/>
            </a:xfrm>
            <a:custGeom>
              <a:avLst/>
              <a:gdLst>
                <a:gd name="connsiteX0" fmla="*/ 41522 w 55932"/>
                <a:gd name="connsiteY0" fmla="*/ -32 h 117185"/>
                <a:gd name="connsiteX1" fmla="*/ 55900 w 55932"/>
                <a:gd name="connsiteY1" fmla="*/ -32 h 117185"/>
                <a:gd name="connsiteX2" fmla="*/ 14346 w 55932"/>
                <a:gd name="connsiteY2" fmla="*/ 117153 h 117185"/>
                <a:gd name="connsiteX3" fmla="*/ -32 w 55932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32" h="117185">
                  <a:moveTo>
                    <a:pt x="41522" y="-32"/>
                  </a:moveTo>
                  <a:lnTo>
                    <a:pt x="5590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4573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7118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969939" y="6538898"/>
            <a:ext cx="1802926" cy="9489"/>
            <a:chOff x="1969939" y="6538898"/>
            <a:chExt cx="1802926" cy="9489"/>
          </a:xfrm>
        </p:grpSpPr>
        <p:sp>
          <p:nvSpPr>
            <p:cNvPr id="58" name="任意多边形: 形状 57"/>
            <p:cNvSpPr/>
            <p:nvPr/>
          </p:nvSpPr>
          <p:spPr>
            <a:xfrm>
              <a:off x="1969939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032198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2094313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215642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2218688" y="6538898"/>
              <a:ext cx="61827" cy="9489"/>
            </a:xfrm>
            <a:custGeom>
              <a:avLst/>
              <a:gdLst>
                <a:gd name="connsiteX0" fmla="*/ -32 w 61827"/>
                <a:gd name="connsiteY0" fmla="*/ -32 h 9489"/>
                <a:gd name="connsiteX1" fmla="*/ 61796 w 61827"/>
                <a:gd name="connsiteY1" fmla="*/ -32 h 9489"/>
                <a:gd name="connsiteX2" fmla="*/ 61796 w 61827"/>
                <a:gd name="connsiteY2" fmla="*/ 9458 h 9489"/>
                <a:gd name="connsiteX3" fmla="*/ -32 w 61827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27" h="9489">
                  <a:moveTo>
                    <a:pt x="-32" y="-32"/>
                  </a:moveTo>
                  <a:lnTo>
                    <a:pt x="61796" y="-32"/>
                  </a:lnTo>
                  <a:lnTo>
                    <a:pt x="6179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2280515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234291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240517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111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111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246743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252940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2591667" y="6538898"/>
              <a:ext cx="62690" cy="9489"/>
            </a:xfrm>
            <a:custGeom>
              <a:avLst/>
              <a:gdLst>
                <a:gd name="connsiteX0" fmla="*/ -32 w 62690"/>
                <a:gd name="connsiteY0" fmla="*/ -32 h 9489"/>
                <a:gd name="connsiteX1" fmla="*/ 62658 w 62690"/>
                <a:gd name="connsiteY1" fmla="*/ -32 h 9489"/>
                <a:gd name="connsiteX2" fmla="*/ 62658 w 62690"/>
                <a:gd name="connsiteY2" fmla="*/ 9458 h 9489"/>
                <a:gd name="connsiteX3" fmla="*/ 543 w 62690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0" h="9489">
                  <a:moveTo>
                    <a:pt x="-32" y="-32"/>
                  </a:moveTo>
                  <a:lnTo>
                    <a:pt x="62658" y="-32"/>
                  </a:lnTo>
                  <a:lnTo>
                    <a:pt x="62658" y="9458"/>
                  </a:lnTo>
                  <a:lnTo>
                    <a:pt x="543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65435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16042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77815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840272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902531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96464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3026762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3089021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315113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3213396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3275511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337626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399885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3462001" y="6538898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7 w 62258"/>
                <a:gd name="connsiteY1" fmla="*/ -32 h 9489"/>
                <a:gd name="connsiteX2" fmla="*/ 62227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3524116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3586375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3648491" y="6538898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7 w 62258"/>
                <a:gd name="connsiteY1" fmla="*/ -32 h 9489"/>
                <a:gd name="connsiteX2" fmla="*/ 62227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3710750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0" y="1097280"/>
            <a:ext cx="3834765" cy="50165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3410" y="630555"/>
            <a:ext cx="3303270" cy="549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系统框架</a:t>
            </a:r>
            <a:endParaRPr lang="zh-CN" altLang="en-US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32750" y="630555"/>
            <a:ext cx="38893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视觉模块和步态控制模块</a:t>
            </a:r>
            <a:endParaRPr lang="zh-CN" altLang="en-US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3420" y="97790"/>
            <a:ext cx="2497455" cy="51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700" b="1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</a:rPr>
              <a:t>整体系统架构</a:t>
            </a:r>
            <a:endParaRPr lang="zh-CN" altLang="en-US" sz="2700" b="1">
              <a:ln w="15875"/>
              <a:gradFill>
                <a:gsLst>
                  <a:gs pos="0">
                    <a:schemeClr val="accent1">
                      <a:lumOff val="-19991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1"/>
                    </a:schemeClr>
                  </a:gs>
                </a:gsLst>
                <a:lin ang="0" scaled="0"/>
              </a:gra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265430" y="74295"/>
            <a:ext cx="427990" cy="481965"/>
            <a:chOff x="447675" y="367239"/>
            <a:chExt cx="513548" cy="575736"/>
          </a:xfrm>
          <a:solidFill>
            <a:schemeClr val="tx2"/>
          </a:solidFill>
        </p:grpSpPr>
        <p:sp>
          <p:nvSpPr>
            <p:cNvPr id="88" name="等腰三角形 87"/>
            <p:cNvSpPr/>
            <p:nvPr/>
          </p:nvSpPr>
          <p:spPr>
            <a:xfrm rot="5400000">
              <a:off x="414282" y="400632"/>
              <a:ext cx="484204" cy="41741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/>
            <p:cNvSpPr/>
            <p:nvPr/>
          </p:nvSpPr>
          <p:spPr>
            <a:xfrm rot="5400000">
              <a:off x="581357" y="563109"/>
              <a:ext cx="408004" cy="3517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660" y="1106170"/>
            <a:ext cx="2854960" cy="5017770"/>
          </a:xfrm>
          <a:prstGeom prst="rect">
            <a:avLst/>
          </a:prstGeom>
        </p:spPr>
      </p:pic>
      <p:sp>
        <p:nvSpPr>
          <p:cNvPr id="90" name="文本框 89"/>
          <p:cNvSpPr txBox="1"/>
          <p:nvPr/>
        </p:nvSpPr>
        <p:spPr>
          <a:xfrm>
            <a:off x="4600575" y="630555"/>
            <a:ext cx="269113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主要的</a:t>
            </a:r>
            <a:r>
              <a:rPr lang="en-US" altLang="zh-CN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ROS</a:t>
            </a:r>
            <a:r>
              <a:rPr lang="zh-CN" altLang="en-US" sz="25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节点</a:t>
            </a:r>
            <a:endParaRPr lang="zh-CN" altLang="en-US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60" y="4957445"/>
            <a:ext cx="2864485" cy="543560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750" y="5471795"/>
            <a:ext cx="3505200" cy="24765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3025" y="1097280"/>
            <a:ext cx="4360545" cy="5048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935" y="1452245"/>
            <a:ext cx="2772410" cy="942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3160" y="2394585"/>
            <a:ext cx="2690495" cy="14605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3000" y="3077845"/>
            <a:ext cx="2887345" cy="987425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935" y="4065270"/>
            <a:ext cx="2787015" cy="15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94" t="10765" r="31008" b="39019"/>
          <a:stretch>
            <a:fillRect/>
          </a:stretch>
        </p:blipFill>
        <p:spPr>
          <a:xfrm flipH="1">
            <a:off x="-36831" y="-1"/>
            <a:ext cx="12229091" cy="6858001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8516060" y="396095"/>
            <a:ext cx="1802926" cy="9489"/>
            <a:chOff x="8516060" y="396095"/>
            <a:chExt cx="1802926" cy="948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8516060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11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11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857831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8640291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8702550" y="396095"/>
              <a:ext cx="62690" cy="9489"/>
            </a:xfrm>
            <a:custGeom>
              <a:avLst/>
              <a:gdLst>
                <a:gd name="connsiteX0" fmla="*/ -32 w 62690"/>
                <a:gd name="connsiteY0" fmla="*/ -32 h 9489"/>
                <a:gd name="connsiteX1" fmla="*/ 62658 w 62690"/>
                <a:gd name="connsiteY1" fmla="*/ -32 h 9489"/>
                <a:gd name="connsiteX2" fmla="*/ 62658 w 62690"/>
                <a:gd name="connsiteY2" fmla="*/ 9458 h 9489"/>
                <a:gd name="connsiteX3" fmla="*/ 543 w 62690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0" h="9489">
                  <a:moveTo>
                    <a:pt x="-32" y="-32"/>
                  </a:moveTo>
                  <a:lnTo>
                    <a:pt x="62658" y="-32"/>
                  </a:lnTo>
                  <a:lnTo>
                    <a:pt x="62658" y="9458"/>
                  </a:lnTo>
                  <a:lnTo>
                    <a:pt x="543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8765241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882692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8889040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8951155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01341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075530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137645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19990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26201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9324279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9386394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9448509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510768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572883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634999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9697258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9759374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9821489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9883747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9945863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10008122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10070238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132353" y="396095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6 w 62258"/>
                <a:gd name="connsiteY1" fmla="*/ -32 h 9489"/>
                <a:gd name="connsiteX2" fmla="*/ 62226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6" y="-32"/>
                  </a:lnTo>
                  <a:lnTo>
                    <a:pt x="6222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10194612" y="396095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10256727" y="396095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0470824" y="291276"/>
            <a:ext cx="1582503" cy="117185"/>
            <a:chOff x="10470824" y="291276"/>
            <a:chExt cx="1582503" cy="117185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470824" y="291276"/>
              <a:ext cx="55500" cy="117185"/>
            </a:xfrm>
            <a:custGeom>
              <a:avLst/>
              <a:gdLst>
                <a:gd name="connsiteX0" fmla="*/ 41090 w 55500"/>
                <a:gd name="connsiteY0" fmla="*/ -32 h 117185"/>
                <a:gd name="connsiteX1" fmla="*/ 55469 w 55500"/>
                <a:gd name="connsiteY1" fmla="*/ -32 h 117185"/>
                <a:gd name="connsiteX2" fmla="*/ 14346 w 55500"/>
                <a:gd name="connsiteY2" fmla="*/ 117153 h 117185"/>
                <a:gd name="connsiteX3" fmla="*/ -32 w 55500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0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725324" y="291276"/>
              <a:ext cx="55500" cy="117185"/>
            </a:xfrm>
            <a:custGeom>
              <a:avLst/>
              <a:gdLst>
                <a:gd name="connsiteX0" fmla="*/ 41090 w 55500"/>
                <a:gd name="connsiteY0" fmla="*/ -32 h 117185"/>
                <a:gd name="connsiteX1" fmla="*/ 55469 w 55500"/>
                <a:gd name="connsiteY1" fmla="*/ -32 h 117185"/>
                <a:gd name="connsiteX2" fmla="*/ 14346 w 55500"/>
                <a:gd name="connsiteY2" fmla="*/ 117153 h 117185"/>
                <a:gd name="connsiteX3" fmla="*/ -32 w 55500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0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10979537" y="291276"/>
              <a:ext cx="55788" cy="117185"/>
            </a:xfrm>
            <a:custGeom>
              <a:avLst/>
              <a:gdLst>
                <a:gd name="connsiteX0" fmla="*/ 41378 w 55788"/>
                <a:gd name="connsiteY0" fmla="*/ -32 h 117185"/>
                <a:gd name="connsiteX1" fmla="*/ 55757 w 55788"/>
                <a:gd name="connsiteY1" fmla="*/ -32 h 117185"/>
                <a:gd name="connsiteX2" fmla="*/ 14346 w 55788"/>
                <a:gd name="connsiteY2" fmla="*/ 117153 h 117185"/>
                <a:gd name="connsiteX3" fmla="*/ -32 w 55788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788" h="117185">
                  <a:moveTo>
                    <a:pt x="41378" y="-32"/>
                  </a:moveTo>
                  <a:lnTo>
                    <a:pt x="55757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11234324" y="291276"/>
              <a:ext cx="55501" cy="117185"/>
            </a:xfrm>
            <a:custGeom>
              <a:avLst/>
              <a:gdLst>
                <a:gd name="connsiteX0" fmla="*/ 41091 w 55501"/>
                <a:gd name="connsiteY0" fmla="*/ -32 h 117185"/>
                <a:gd name="connsiteX1" fmla="*/ 55470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1" y="-32"/>
                  </a:moveTo>
                  <a:lnTo>
                    <a:pt x="5547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11488969" y="291276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6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6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11743757" y="291276"/>
              <a:ext cx="55357" cy="117185"/>
            </a:xfrm>
            <a:custGeom>
              <a:avLst/>
              <a:gdLst>
                <a:gd name="connsiteX0" fmla="*/ 40946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6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11997970" y="291276"/>
              <a:ext cx="55357" cy="117185"/>
            </a:xfrm>
            <a:custGeom>
              <a:avLst/>
              <a:gdLst>
                <a:gd name="connsiteX0" fmla="*/ 40946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6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84554" y="6434222"/>
            <a:ext cx="1582647" cy="117185"/>
            <a:chOff x="184554" y="6434222"/>
            <a:chExt cx="1582647" cy="117185"/>
          </a:xfrm>
        </p:grpSpPr>
        <p:sp>
          <p:nvSpPr>
            <p:cNvPr id="50" name="任意多边形: 形状 49"/>
            <p:cNvSpPr/>
            <p:nvPr/>
          </p:nvSpPr>
          <p:spPr>
            <a:xfrm>
              <a:off x="184554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439055" y="6434222"/>
              <a:ext cx="55501" cy="117185"/>
            </a:xfrm>
            <a:custGeom>
              <a:avLst/>
              <a:gdLst>
                <a:gd name="connsiteX0" fmla="*/ 41090 w 55501"/>
                <a:gd name="connsiteY0" fmla="*/ -32 h 117185"/>
                <a:gd name="connsiteX1" fmla="*/ 55469 w 55501"/>
                <a:gd name="connsiteY1" fmla="*/ -32 h 117185"/>
                <a:gd name="connsiteX2" fmla="*/ 14346 w 55501"/>
                <a:gd name="connsiteY2" fmla="*/ 117153 h 117185"/>
                <a:gd name="connsiteX3" fmla="*/ -32 w 55501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01" h="117185">
                  <a:moveTo>
                    <a:pt x="41090" y="-32"/>
                  </a:moveTo>
                  <a:lnTo>
                    <a:pt x="55469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6936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948199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1202124" y="6434222"/>
              <a:ext cx="55932" cy="117185"/>
            </a:xfrm>
            <a:custGeom>
              <a:avLst/>
              <a:gdLst>
                <a:gd name="connsiteX0" fmla="*/ 41522 w 55932"/>
                <a:gd name="connsiteY0" fmla="*/ -32 h 117185"/>
                <a:gd name="connsiteX1" fmla="*/ 55900 w 55932"/>
                <a:gd name="connsiteY1" fmla="*/ -32 h 117185"/>
                <a:gd name="connsiteX2" fmla="*/ 14346 w 55932"/>
                <a:gd name="connsiteY2" fmla="*/ 117153 h 117185"/>
                <a:gd name="connsiteX3" fmla="*/ -32 w 55932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932" h="117185">
                  <a:moveTo>
                    <a:pt x="41522" y="-32"/>
                  </a:moveTo>
                  <a:lnTo>
                    <a:pt x="55900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14573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1711844" y="6434222"/>
              <a:ext cx="55357" cy="117185"/>
            </a:xfrm>
            <a:custGeom>
              <a:avLst/>
              <a:gdLst>
                <a:gd name="connsiteX0" fmla="*/ 40947 w 55357"/>
                <a:gd name="connsiteY0" fmla="*/ -32 h 117185"/>
                <a:gd name="connsiteX1" fmla="*/ 55325 w 55357"/>
                <a:gd name="connsiteY1" fmla="*/ -32 h 117185"/>
                <a:gd name="connsiteX2" fmla="*/ 14346 w 55357"/>
                <a:gd name="connsiteY2" fmla="*/ 117153 h 117185"/>
                <a:gd name="connsiteX3" fmla="*/ -32 w 55357"/>
                <a:gd name="connsiteY3" fmla="*/ 117153 h 11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357" h="117185">
                  <a:moveTo>
                    <a:pt x="40947" y="-32"/>
                  </a:moveTo>
                  <a:lnTo>
                    <a:pt x="55325" y="-32"/>
                  </a:lnTo>
                  <a:lnTo>
                    <a:pt x="14346" y="117153"/>
                  </a:lnTo>
                  <a:lnTo>
                    <a:pt x="-32" y="117153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1969939" y="6538898"/>
            <a:ext cx="1802926" cy="9489"/>
            <a:chOff x="1969939" y="6538898"/>
            <a:chExt cx="1802926" cy="9489"/>
          </a:xfrm>
        </p:grpSpPr>
        <p:sp>
          <p:nvSpPr>
            <p:cNvPr id="58" name="任意多边形: 形状 57"/>
            <p:cNvSpPr/>
            <p:nvPr/>
          </p:nvSpPr>
          <p:spPr>
            <a:xfrm>
              <a:off x="1969939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2032198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2094313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215642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2218688" y="6538898"/>
              <a:ext cx="61827" cy="9489"/>
            </a:xfrm>
            <a:custGeom>
              <a:avLst/>
              <a:gdLst>
                <a:gd name="connsiteX0" fmla="*/ -32 w 61827"/>
                <a:gd name="connsiteY0" fmla="*/ -32 h 9489"/>
                <a:gd name="connsiteX1" fmla="*/ 61796 w 61827"/>
                <a:gd name="connsiteY1" fmla="*/ -32 h 9489"/>
                <a:gd name="connsiteX2" fmla="*/ 61796 w 61827"/>
                <a:gd name="connsiteY2" fmla="*/ 9458 h 9489"/>
                <a:gd name="connsiteX3" fmla="*/ -32 w 61827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827" h="9489">
                  <a:moveTo>
                    <a:pt x="-32" y="-32"/>
                  </a:moveTo>
                  <a:lnTo>
                    <a:pt x="61796" y="-32"/>
                  </a:lnTo>
                  <a:lnTo>
                    <a:pt x="61796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2280515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234291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240517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111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111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246743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252940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2591667" y="6538898"/>
              <a:ext cx="62690" cy="9489"/>
            </a:xfrm>
            <a:custGeom>
              <a:avLst/>
              <a:gdLst>
                <a:gd name="connsiteX0" fmla="*/ -32 w 62690"/>
                <a:gd name="connsiteY0" fmla="*/ -32 h 9489"/>
                <a:gd name="connsiteX1" fmla="*/ 62658 w 62690"/>
                <a:gd name="connsiteY1" fmla="*/ -32 h 9489"/>
                <a:gd name="connsiteX2" fmla="*/ 62658 w 62690"/>
                <a:gd name="connsiteY2" fmla="*/ 9458 h 9489"/>
                <a:gd name="connsiteX3" fmla="*/ 543 w 62690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0" h="9489">
                  <a:moveTo>
                    <a:pt x="-32" y="-32"/>
                  </a:moveTo>
                  <a:lnTo>
                    <a:pt x="62658" y="-32"/>
                  </a:lnTo>
                  <a:lnTo>
                    <a:pt x="62658" y="9458"/>
                  </a:lnTo>
                  <a:lnTo>
                    <a:pt x="543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2654358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2716042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277815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2840272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2902531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296464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3026762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3089021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3151137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3213396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3275511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337626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399885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3462001" y="6538898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7 w 62258"/>
                <a:gd name="connsiteY1" fmla="*/ -32 h 9489"/>
                <a:gd name="connsiteX2" fmla="*/ 62227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3524116" y="6538898"/>
              <a:ext cx="62259" cy="9489"/>
            </a:xfrm>
            <a:custGeom>
              <a:avLst/>
              <a:gdLst>
                <a:gd name="connsiteX0" fmla="*/ -32 w 62259"/>
                <a:gd name="connsiteY0" fmla="*/ -32 h 9489"/>
                <a:gd name="connsiteX1" fmla="*/ 62227 w 62259"/>
                <a:gd name="connsiteY1" fmla="*/ -32 h 9489"/>
                <a:gd name="connsiteX2" fmla="*/ 62227 w 62259"/>
                <a:gd name="connsiteY2" fmla="*/ 9458 h 9489"/>
                <a:gd name="connsiteX3" fmla="*/ -32 w 62259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9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3586375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3648491" y="6538898"/>
              <a:ext cx="62258" cy="9489"/>
            </a:xfrm>
            <a:custGeom>
              <a:avLst/>
              <a:gdLst>
                <a:gd name="connsiteX0" fmla="*/ -32 w 62258"/>
                <a:gd name="connsiteY0" fmla="*/ -32 h 9489"/>
                <a:gd name="connsiteX1" fmla="*/ 62227 w 62258"/>
                <a:gd name="connsiteY1" fmla="*/ -32 h 9489"/>
                <a:gd name="connsiteX2" fmla="*/ 62227 w 62258"/>
                <a:gd name="connsiteY2" fmla="*/ 9458 h 9489"/>
                <a:gd name="connsiteX3" fmla="*/ -32 w 62258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258" h="9489">
                  <a:moveTo>
                    <a:pt x="-32" y="-32"/>
                  </a:moveTo>
                  <a:lnTo>
                    <a:pt x="62227" y="-32"/>
                  </a:lnTo>
                  <a:lnTo>
                    <a:pt x="62227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3710750" y="6538898"/>
              <a:ext cx="62115" cy="9489"/>
            </a:xfrm>
            <a:custGeom>
              <a:avLst/>
              <a:gdLst>
                <a:gd name="connsiteX0" fmla="*/ -32 w 62115"/>
                <a:gd name="connsiteY0" fmla="*/ -32 h 9489"/>
                <a:gd name="connsiteX1" fmla="*/ 62083 w 62115"/>
                <a:gd name="connsiteY1" fmla="*/ -32 h 9489"/>
                <a:gd name="connsiteX2" fmla="*/ 62083 w 62115"/>
                <a:gd name="connsiteY2" fmla="*/ 9458 h 9489"/>
                <a:gd name="connsiteX3" fmla="*/ -32 w 62115"/>
                <a:gd name="connsiteY3" fmla="*/ 9458 h 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15" h="9489">
                  <a:moveTo>
                    <a:pt x="-32" y="-32"/>
                  </a:moveTo>
                  <a:lnTo>
                    <a:pt x="62083" y="-32"/>
                  </a:lnTo>
                  <a:lnTo>
                    <a:pt x="62083" y="9458"/>
                  </a:lnTo>
                  <a:lnTo>
                    <a:pt x="-32" y="9458"/>
                  </a:lnTo>
                  <a:close/>
                </a:path>
              </a:pathLst>
            </a:custGeom>
            <a:solidFill>
              <a:srgbClr val="000000"/>
            </a:solidFill>
            <a:ln w="14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24205" y="151130"/>
            <a:ext cx="29622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</a:rPr>
              <a:t>功能亮点展示</a:t>
            </a:r>
            <a:endParaRPr lang="zh-CN" altLang="en-US" sz="2700" b="1">
              <a:ln w="15875"/>
              <a:gradFill>
                <a:gsLst>
                  <a:gs pos="0">
                    <a:schemeClr val="accent1">
                      <a:lumOff val="-19991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1"/>
                    </a:schemeClr>
                  </a:gs>
                </a:gsLst>
                <a:lin ang="0" scaled="0"/>
              </a:gra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241300" y="151130"/>
            <a:ext cx="427990" cy="481965"/>
            <a:chOff x="447675" y="367239"/>
            <a:chExt cx="513548" cy="575736"/>
          </a:xfrm>
          <a:solidFill>
            <a:schemeClr val="tx2"/>
          </a:solidFill>
        </p:grpSpPr>
        <p:sp>
          <p:nvSpPr>
            <p:cNvPr id="88" name="等腰三角形 87"/>
            <p:cNvSpPr/>
            <p:nvPr/>
          </p:nvSpPr>
          <p:spPr>
            <a:xfrm rot="5400000">
              <a:off x="414282" y="400632"/>
              <a:ext cx="484204" cy="41741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/>
            <p:cNvSpPr/>
            <p:nvPr/>
          </p:nvSpPr>
          <p:spPr>
            <a:xfrm rot="5400000">
              <a:off x="581357" y="563109"/>
              <a:ext cx="408004" cy="3517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7500" y="1916430"/>
            <a:ext cx="3545205" cy="2263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98950" y="1916430"/>
            <a:ext cx="3556000" cy="22637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338820" y="1917065"/>
            <a:ext cx="3526155" cy="226314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4298950" y="4509770"/>
            <a:ext cx="355663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出色的障碍物识别与定位能力</a:t>
            </a:r>
            <a:endParaRPr lang="zh-CN" alt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8232775" y="4509770"/>
            <a:ext cx="3862070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高效稳定的动态越障与通行能力</a:t>
            </a:r>
            <a:endParaRPr lang="zh-CN" alt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184785" y="4509770"/>
            <a:ext cx="3777615" cy="551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精准的路径追踪与智能规划能力</a:t>
            </a:r>
            <a:endParaRPr lang="zh-CN" altLang="en-U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 flipV="1">
            <a:off x="832485" y="1404620"/>
            <a:ext cx="9779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62050" y="1151255"/>
            <a:ext cx="10224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跨赛段分层状态机架构</a:t>
            </a:r>
            <a:r>
              <a:rPr lang="zh-CN" altLang="en-US" b="1"/>
              <a:t>：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构建五级状态机实现跳跃→撞球→循迹→越障→回环的全流程自动切换；通过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finished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标志位与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LCM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保活机制彻底消除人工干预节点，一键启动全程。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1250" y="1977390"/>
            <a:ext cx="10276840" cy="694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Light (正文)" charset="0"/>
                <a:cs typeface="思源黑体 CN Light (正文)" charset="0"/>
              </a:rPr>
              <a:t>分段自适应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Light (正文)" charset="0"/>
                <a:cs typeface="思源黑体 CN Light (正文)" charset="0"/>
              </a:rPr>
              <a:t>PD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Light (正文)" charset="0"/>
                <a:cs typeface="思源黑体 CN Light (正文)" charset="0"/>
              </a:rPr>
              <a:t>视觉循迹</a:t>
            </a:r>
            <a:r>
              <a:rPr lang="zh-CN" altLang="en-US" b="1">
                <a:effectLst/>
              </a:rPr>
              <a:t>：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按偏差大小动态调速，大偏差慢速纠偏、小偏差高速直行；微分环节抑制转向震荡，边线缺失时依托历史轨迹宽度自适应补全，兼顾精度与平顺性。</a:t>
            </a:r>
            <a:endParaRPr lang="zh-CN" altLang="en-US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 flipV="1">
            <a:off x="832485" y="3210560"/>
            <a:ext cx="9779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11250" y="2901315"/>
            <a:ext cx="10275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多模态视觉感知系统</a:t>
            </a:r>
            <a:r>
              <a:rPr lang="zh-CN" altLang="en-US" b="1">
                <a:effectLst/>
              </a:rPr>
              <a:t>：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融合</a:t>
            </a:r>
            <a:r>
              <a:rPr lang="en-US" altLang="zh-CN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HSV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阈值分割、形态学降噪与多边形拟合，同步识别橙球</a:t>
            </a:r>
            <a:r>
              <a:rPr lang="en-US" altLang="zh-CN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黄线/浅蓝方块/蓝球四类目标；增设小球晃动判别（帧间位移&gt;20</a:t>
            </a:r>
            <a:r>
              <a:rPr lang="en-US" altLang="zh-CN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px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触发），具备动态场景辨识能力。</a:t>
            </a:r>
            <a:endParaRPr lang="zh-CN" altLang="en-US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 flipV="1">
            <a:off x="832485" y="4060825"/>
            <a:ext cx="9779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10615" y="3776345"/>
            <a:ext cx="10276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越障三阶状态机与防倾倒</a:t>
            </a:r>
            <a:r>
              <a:rPr lang="zh-CN" altLang="en-US" b="1">
                <a:effectLst/>
              </a:rPr>
              <a:t>：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构建"准备→高抬腿越障→恢复"三阶控制，集成俯仰姿态调控与重心偏移适配；前倾超限时自动紧急站立，实现越障自稳与防倾倒双重防护。</a:t>
            </a:r>
            <a:endParaRPr lang="zh-CN" altLang="en-US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 flipV="1">
            <a:off x="832485" y="4921885"/>
            <a:ext cx="9779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09980" y="4651375"/>
            <a:ext cx="1027684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Light (正文)" charset="0"/>
                <a:cs typeface="思源黑体 CN Light (正文)" charset="0"/>
              </a:rPr>
              <a:t>多线程</a:t>
            </a:r>
            <a:r>
              <a:rPr lang="en-US" altLang="zh-C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Light (正文)" charset="0"/>
                <a:cs typeface="思源黑体 CN Light (正文)" charset="0"/>
              </a:rPr>
              <a:t>LCM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Light (正文)" charset="0"/>
                <a:cs typeface="思源黑体 CN Light (正文)" charset="0"/>
              </a:rPr>
              <a:t>异步通信</a:t>
            </a:r>
            <a:r>
              <a:rPr lang="zh-CN" altLang="en-US" b="1">
                <a:effectLst/>
              </a:rPr>
              <a:t>：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收发线程分离+互斥锁保护指令缓冲，配合延时发布与</a:t>
            </a:r>
            <a:r>
              <a:rPr lang="en-US" altLang="zh-CN" b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life_count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循环机制；有效避免阻塞丢包，保障控制指令实时稳定下发。</a:t>
            </a:r>
            <a:endParaRPr lang="zh-CN" altLang="en-US" b="1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 flipV="1">
            <a:off x="832485" y="5795645"/>
            <a:ext cx="9779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10615" y="5526405"/>
            <a:ext cx="10276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闭环回路与自主对位复跑</a:t>
            </a:r>
            <a:r>
              <a:rPr lang="zh-CN" altLang="en-US" b="1">
                <a:effectLst/>
              </a:rPr>
              <a:t>：</a:t>
            </a:r>
            <a:r>
              <a:rPr lang="zh-CN" altLang="en-US" b="1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任务结束后依托视觉偏差低速自主对准；越障延时触发闭环模式，自动完成直行、跳跃、长距循迹循环巡航，实现路径全自动复跑。</a:t>
            </a:r>
            <a:endParaRPr lang="zh-CN" altLang="en-US" b="1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 flipV="1">
            <a:off x="832485" y="2269490"/>
            <a:ext cx="97790" cy="762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01040" y="99695"/>
            <a:ext cx="3284220" cy="563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700" b="1">
                <a:ln w="15875"/>
                <a:gradFill>
                  <a:gsLst>
                    <a:gs pos="0">
                      <a:schemeClr val="accent1">
                        <a:lumOff val="-19991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1"/>
                      </a:schemeClr>
                    </a:gs>
                  </a:gsLst>
                  <a:lin ang="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</a:rPr>
              <a:t>核心技术创新</a:t>
            </a:r>
            <a:endParaRPr lang="zh-CN" altLang="en-US" sz="2700" b="1">
              <a:ln w="15875"/>
              <a:gradFill>
                <a:gsLst>
                  <a:gs pos="0">
                    <a:schemeClr val="accent1">
                      <a:lumOff val="-19991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1"/>
                    </a:schemeClr>
                  </a:gs>
                </a:gsLst>
                <a:lin ang="0" scaled="0"/>
              </a:gra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273050" y="127635"/>
            <a:ext cx="427990" cy="481965"/>
            <a:chOff x="447675" y="367239"/>
            <a:chExt cx="513548" cy="575736"/>
          </a:xfrm>
          <a:solidFill>
            <a:schemeClr val="tx2"/>
          </a:solidFill>
        </p:grpSpPr>
        <p:sp>
          <p:nvSpPr>
            <p:cNvPr id="88" name="等腰三角形 87"/>
            <p:cNvSpPr/>
            <p:nvPr/>
          </p:nvSpPr>
          <p:spPr>
            <a:xfrm rot="5400000">
              <a:off x="414282" y="400632"/>
              <a:ext cx="484204" cy="41741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/>
            <p:cNvSpPr/>
            <p:nvPr/>
          </p:nvSpPr>
          <p:spPr>
            <a:xfrm rot="5400000">
              <a:off x="581357" y="563109"/>
              <a:ext cx="408004" cy="3517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6.4,&quot;left&quot;:14.55,&quot;top&quot;:109.5,&quot;width&quot;:937.8}"/>
</p:tagLst>
</file>

<file path=ppt/tags/tag2.xml><?xml version="1.0" encoding="utf-8"?>
<p:tagLst xmlns:p="http://schemas.openxmlformats.org/presentationml/2006/main">
  <p:tag name="KSO_WM_DIAGRAM_VIRTUALLY_FRAME" val="{&quot;height&quot;:356.4,&quot;left&quot;:14.55,&quot;top&quot;:109.5,&quot;width&quot;:937.8}"/>
</p:tagLst>
</file>

<file path=ppt/tags/tag3.xml><?xml version="1.0" encoding="utf-8"?>
<p:tagLst xmlns:p="http://schemas.openxmlformats.org/presentationml/2006/main">
  <p:tag name="KSO_WM_DIAGRAM_VIRTUALLY_FRAME" val="{&quot;height&quot;:356.4,&quot;left&quot;:14.55,&quot;top&quot;:109.5,&quot;width&quot;:937.8}"/>
</p:tagLst>
</file>

<file path=ppt/tags/tag4.xml><?xml version="1.0" encoding="utf-8"?>
<p:tagLst xmlns:p="http://schemas.openxmlformats.org/presentationml/2006/main">
  <p:tag name="KSO_WM_DIAGRAM_VIRTUALLY_FRAME" val="{&quot;height&quot;:356.4,&quot;left&quot;:14.55,&quot;top&quot;:109.5,&quot;width&quot;:937.8}"/>
</p:tagLst>
</file>

<file path=ppt/tags/tag5.xml><?xml version="1.0" encoding="utf-8"?>
<p:tagLst xmlns:p="http://schemas.openxmlformats.org/presentationml/2006/main">
  <p:tag name="KSO_WM_DIAGRAM_VIRTUALLY_FRAME" val="{&quot;height&quot;:356.4,&quot;left&quot;:14.55,&quot;top&quot;:109.5,&quot;width&quot;:937.8}"/>
</p:tagLst>
</file>

<file path=ppt/tags/tag6.xml><?xml version="1.0" encoding="utf-8"?>
<p:tagLst xmlns:p="http://schemas.openxmlformats.org/presentationml/2006/main">
  <p:tag name="KSO_WM_DIAGRAM_VIRTUALLY_FRAME" val="{&quot;height&quot;:356.4,&quot;left&quot;:14.55,&quot;top&quot;:109.5,&quot;width&quot;:937.8}"/>
</p:tagLst>
</file>

<file path=ppt/tags/tag7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Light"/>
        <a:ea typeface="思源黑体 CN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WPS 演示</Application>
  <PresentationFormat>宽屏</PresentationFormat>
  <Paragraphs>39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思源黑体 CN Normal</vt:lpstr>
      <vt:lpstr>微软雅黑</vt:lpstr>
      <vt:lpstr>黑体</vt:lpstr>
      <vt:lpstr>思源黑体 CN Light (正文)</vt:lpstr>
      <vt:lpstr>思源黑体 CN Light</vt:lpstr>
      <vt:lpstr>Arial Unicode MS</vt:lpstr>
      <vt:lpstr>思源黑体 CN Medium</vt:lpstr>
      <vt:lpstr>KSOF618801C0</vt:lpstr>
      <vt:lpstr>Segoe Print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清 啊~</dc:creator>
  <cp:lastModifiedBy>刘蕴涵</cp:lastModifiedBy>
  <cp:revision>25</cp:revision>
  <dcterms:created xsi:type="dcterms:W3CDTF">2024-01-24T09:05:00Z</dcterms:created>
  <dcterms:modified xsi:type="dcterms:W3CDTF">2026-05-28T13:34:09Z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1B00DB4419754BD6B0B3469DBE690D34_13</vt:lpwstr>
  </property>
</Properties>
</file>